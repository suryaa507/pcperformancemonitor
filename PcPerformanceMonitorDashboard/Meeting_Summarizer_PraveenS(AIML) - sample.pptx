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61" r:id="rId5"/>
    <p:sldId id="262" r:id="rId6"/>
    <p:sldId id="275" r:id="rId7"/>
    <p:sldId id="266" r:id="rId8"/>
    <p:sldId id="277" r:id="rId9"/>
    <p:sldId id="278" r:id="rId10"/>
    <p:sldId id="270" r:id="rId11"/>
    <p:sldId id="279" r:id="rId12"/>
    <p:sldId id="273" r:id="rId13"/>
    <p:sldId id="276" r:id="rId14"/>
    <p:sldId id="274" r:id="rId15"/>
  </p:sldIdLst>
  <p:sldSz cx="18288000" cy="10287000"/>
  <p:notesSz cx="6858000" cy="9144000"/>
  <p:embeddedFontLst>
    <p:embeddedFont>
      <p:font typeface="Arial Black" panose="020B0A04020102020204" pitchFamily="34" charset="0"/>
      <p:bold r:id="rId17"/>
    </p:embeddedFont>
    <p:embeddedFont>
      <p:font typeface="Century Gothic" panose="020B0502020202020204" pitchFamily="3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E97E7A-DB88-4434-80DB-63AAA8F71D92}" v="1" dt="2025-08-19T06:12:24.392"/>
    <p1510:client id="{F2163547-7AD4-4014-B73A-E63D6D60332B}" v="37" dt="2025-08-19T05:59:25.0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857500" y="512763"/>
            <a:ext cx="3429000"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86" name="Google Shape;86;p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87" name="Google Shape;87;p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89" name="Google Shape;89;p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90" name="Google Shape;90;p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05" name="Google Shape;105;p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06" name="Google Shape;106;p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08" name="Google Shape;108;p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09" name="Google Shape;109;p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25" name="Google Shape;125;p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26" name="Google Shape;126;p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28" name="Google Shape;128;p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29" name="Google Shape;129;p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80" name="Google Shape;180;p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181" name="Google Shape;181;p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183" name="Google Shape;183;p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184" name="Google Shape;184;p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99" name="Google Shape;199;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00" name="Google Shape;200;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02" name="Google Shape;202;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03" name="Google Shape;203;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99" name="Google Shape;199;p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00" name="Google Shape;200;p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02" name="Google Shape;202;p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03" name="Google Shape;203;p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013864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72" name="Google Shape;272;p1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73" name="Google Shape;273;p1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75" name="Google Shape;275;p1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76" name="Google Shape;276;p1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a:extLst>
            <a:ext uri="{FF2B5EF4-FFF2-40B4-BE49-F238E27FC236}">
              <a16:creationId xmlns:a16="http://schemas.microsoft.com/office/drawing/2014/main" id="{9BF9C4AC-FBDB-C586-A43D-93EACC211628}"/>
            </a:ext>
          </a:extLst>
        </p:cNvPr>
        <p:cNvGrpSpPr/>
        <p:nvPr/>
      </p:nvGrpSpPr>
      <p:grpSpPr>
        <a:xfrm>
          <a:off x="0" y="0"/>
          <a:ext cx="0" cy="0"/>
          <a:chOff x="0" y="0"/>
          <a:chExt cx="0" cy="0"/>
        </a:xfrm>
      </p:grpSpPr>
      <p:sp>
        <p:nvSpPr>
          <p:cNvPr id="271" name="Google Shape;271;p11:notes">
            <a:extLst>
              <a:ext uri="{FF2B5EF4-FFF2-40B4-BE49-F238E27FC236}">
                <a16:creationId xmlns:a16="http://schemas.microsoft.com/office/drawing/2014/main" id="{D8CAF483-C16A-EEB9-EA13-6CA0D142C8DE}"/>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72" name="Google Shape;272;p11:notes">
            <a:extLst>
              <a:ext uri="{FF2B5EF4-FFF2-40B4-BE49-F238E27FC236}">
                <a16:creationId xmlns:a16="http://schemas.microsoft.com/office/drawing/2014/main" id="{45B6909D-6AB7-DAE1-E8A3-6DA72E7E45FA}"/>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273" name="Google Shape;273;p11:notes">
            <a:extLst>
              <a:ext uri="{FF2B5EF4-FFF2-40B4-BE49-F238E27FC236}">
                <a16:creationId xmlns:a16="http://schemas.microsoft.com/office/drawing/2014/main" id="{FD1233CA-15B1-2FDE-6C32-ADABD2BE5097}"/>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1:notes">
            <a:extLst>
              <a:ext uri="{FF2B5EF4-FFF2-40B4-BE49-F238E27FC236}">
                <a16:creationId xmlns:a16="http://schemas.microsoft.com/office/drawing/2014/main" id="{CD4C003B-769A-FEF1-2937-2CCDB4CF81BF}"/>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275" name="Google Shape;275;p11:notes">
            <a:extLst>
              <a:ext uri="{FF2B5EF4-FFF2-40B4-BE49-F238E27FC236}">
                <a16:creationId xmlns:a16="http://schemas.microsoft.com/office/drawing/2014/main" id="{898D562D-A964-1A48-8FCF-467E230337FF}"/>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276" name="Google Shape;276;p11:notes">
            <a:extLst>
              <a:ext uri="{FF2B5EF4-FFF2-40B4-BE49-F238E27FC236}">
                <a16:creationId xmlns:a16="http://schemas.microsoft.com/office/drawing/2014/main" id="{67ED62C8-64AC-6777-C97D-2432050C88A5}"/>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13041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a:extLst>
            <a:ext uri="{FF2B5EF4-FFF2-40B4-BE49-F238E27FC236}">
              <a16:creationId xmlns:a16="http://schemas.microsoft.com/office/drawing/2014/main" id="{6997D3A6-D05F-E9DE-DD63-DC21D7287684}"/>
            </a:ext>
          </a:extLst>
        </p:cNvPr>
        <p:cNvGrpSpPr/>
        <p:nvPr/>
      </p:nvGrpSpPr>
      <p:grpSpPr>
        <a:xfrm>
          <a:off x="0" y="0"/>
          <a:ext cx="0" cy="0"/>
          <a:chOff x="0" y="0"/>
          <a:chExt cx="0" cy="0"/>
        </a:xfrm>
      </p:grpSpPr>
      <p:sp>
        <p:nvSpPr>
          <p:cNvPr id="340" name="Google Shape;340;p15:notes">
            <a:extLst>
              <a:ext uri="{FF2B5EF4-FFF2-40B4-BE49-F238E27FC236}">
                <a16:creationId xmlns:a16="http://schemas.microsoft.com/office/drawing/2014/main" id="{AE77001B-6292-E05E-5325-C1DCE7DA327D}"/>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a:extLst>
              <a:ext uri="{FF2B5EF4-FFF2-40B4-BE49-F238E27FC236}">
                <a16:creationId xmlns:a16="http://schemas.microsoft.com/office/drawing/2014/main" id="{8DC8A12C-83E1-E37F-AC97-5CCF5799C9BF}"/>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a:extLst>
              <a:ext uri="{FF2B5EF4-FFF2-40B4-BE49-F238E27FC236}">
                <a16:creationId xmlns:a16="http://schemas.microsoft.com/office/drawing/2014/main" id="{1D6EB6E2-B956-C252-9514-EF062FEDDB62}"/>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a:extLst>
              <a:ext uri="{FF2B5EF4-FFF2-40B4-BE49-F238E27FC236}">
                <a16:creationId xmlns:a16="http://schemas.microsoft.com/office/drawing/2014/main" id="{33CD7582-C9FF-8721-5651-D047D4217857}"/>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a:extLst>
              <a:ext uri="{FF2B5EF4-FFF2-40B4-BE49-F238E27FC236}">
                <a16:creationId xmlns:a16="http://schemas.microsoft.com/office/drawing/2014/main" id="{AFEE5B07-8EF7-4BCC-3716-4089C2D1F4FB}"/>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a:extLst>
              <a:ext uri="{FF2B5EF4-FFF2-40B4-BE49-F238E27FC236}">
                <a16:creationId xmlns:a16="http://schemas.microsoft.com/office/drawing/2014/main" id="{69053878-6C27-469C-58AC-CBC3B7D2FD60}"/>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2184193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a:extLst>
            <a:ext uri="{FF2B5EF4-FFF2-40B4-BE49-F238E27FC236}">
              <a16:creationId xmlns:a16="http://schemas.microsoft.com/office/drawing/2014/main" id="{1AA1FC06-8EDA-340B-15BC-2F0CD825A0F1}"/>
            </a:ext>
          </a:extLst>
        </p:cNvPr>
        <p:cNvGrpSpPr/>
        <p:nvPr/>
      </p:nvGrpSpPr>
      <p:grpSpPr>
        <a:xfrm>
          <a:off x="0" y="0"/>
          <a:ext cx="0" cy="0"/>
          <a:chOff x="0" y="0"/>
          <a:chExt cx="0" cy="0"/>
        </a:xfrm>
      </p:grpSpPr>
      <p:sp>
        <p:nvSpPr>
          <p:cNvPr id="340" name="Google Shape;340;p15:notes">
            <a:extLst>
              <a:ext uri="{FF2B5EF4-FFF2-40B4-BE49-F238E27FC236}">
                <a16:creationId xmlns:a16="http://schemas.microsoft.com/office/drawing/2014/main" id="{57DC9573-F221-C796-5A62-B95D10778A3C}"/>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41" name="Google Shape;341;p15:notes">
            <a:extLst>
              <a:ext uri="{FF2B5EF4-FFF2-40B4-BE49-F238E27FC236}">
                <a16:creationId xmlns:a16="http://schemas.microsoft.com/office/drawing/2014/main" id="{F5B652A2-433E-503A-403B-6A637751D7EE}"/>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342" name="Google Shape;342;p15:notes">
            <a:extLst>
              <a:ext uri="{FF2B5EF4-FFF2-40B4-BE49-F238E27FC236}">
                <a16:creationId xmlns:a16="http://schemas.microsoft.com/office/drawing/2014/main" id="{3C8A0C33-2FB9-A45C-1F18-9F162952159F}"/>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3" name="Google Shape;343;p15:notes">
            <a:extLst>
              <a:ext uri="{FF2B5EF4-FFF2-40B4-BE49-F238E27FC236}">
                <a16:creationId xmlns:a16="http://schemas.microsoft.com/office/drawing/2014/main" id="{FBB33A2B-7CEF-102A-527C-D7AFF641C93B}"/>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344" name="Google Shape;344;p15:notes">
            <a:extLst>
              <a:ext uri="{FF2B5EF4-FFF2-40B4-BE49-F238E27FC236}">
                <a16:creationId xmlns:a16="http://schemas.microsoft.com/office/drawing/2014/main" id="{BBEB625A-4747-C609-1FF6-1DEDC14DBAD1}"/>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345" name="Google Shape;345;p15:notes">
            <a:extLst>
              <a:ext uri="{FF2B5EF4-FFF2-40B4-BE49-F238E27FC236}">
                <a16:creationId xmlns:a16="http://schemas.microsoft.com/office/drawing/2014/main" id="{60BB5A4B-6680-D0D2-FF9B-882B5263B7A0}"/>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944119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99" name="Google Shape;399;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00" name="Google Shape;400;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02" name="Google Shape;402;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03" name="Google Shape;403;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a:extLst>
            <a:ext uri="{FF2B5EF4-FFF2-40B4-BE49-F238E27FC236}">
              <a16:creationId xmlns:a16="http://schemas.microsoft.com/office/drawing/2014/main" id="{72A7E173-23BE-1AA6-C8AB-B708839A39D4}"/>
            </a:ext>
          </a:extLst>
        </p:cNvPr>
        <p:cNvGrpSpPr/>
        <p:nvPr/>
      </p:nvGrpSpPr>
      <p:grpSpPr>
        <a:xfrm>
          <a:off x="0" y="0"/>
          <a:ext cx="0" cy="0"/>
          <a:chOff x="0" y="0"/>
          <a:chExt cx="0" cy="0"/>
        </a:xfrm>
      </p:grpSpPr>
      <p:sp>
        <p:nvSpPr>
          <p:cNvPr id="398" name="Google Shape;398;p18:notes">
            <a:extLst>
              <a:ext uri="{FF2B5EF4-FFF2-40B4-BE49-F238E27FC236}">
                <a16:creationId xmlns:a16="http://schemas.microsoft.com/office/drawing/2014/main" id="{B63006D1-A105-8C78-9F9C-A0D3E38E06FA}"/>
              </a:ext>
            </a:extLst>
          </p:cNvPr>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399" name="Google Shape;399;p18:notes">
            <a:extLst>
              <a:ext uri="{FF2B5EF4-FFF2-40B4-BE49-F238E27FC236}">
                <a16:creationId xmlns:a16="http://schemas.microsoft.com/office/drawing/2014/main" id="{844EB35C-62F7-5CAF-5E42-D03A04F53FCB}"/>
              </a:ext>
            </a:extLst>
          </p:cNvPr>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00" name="Google Shape;400;p18:notes">
            <a:extLst>
              <a:ext uri="{FF2B5EF4-FFF2-40B4-BE49-F238E27FC236}">
                <a16:creationId xmlns:a16="http://schemas.microsoft.com/office/drawing/2014/main" id="{B2F45F1C-A8E3-F175-7450-4F3F7D1213DB}"/>
              </a:ext>
            </a:extLst>
          </p:cNvPr>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18:notes">
            <a:extLst>
              <a:ext uri="{FF2B5EF4-FFF2-40B4-BE49-F238E27FC236}">
                <a16:creationId xmlns:a16="http://schemas.microsoft.com/office/drawing/2014/main" id="{3284A972-E727-7FEB-2F73-F899CCFCA1DE}"/>
              </a:ext>
            </a:extLst>
          </p:cNvPr>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02" name="Google Shape;402;p18:notes">
            <a:extLst>
              <a:ext uri="{FF2B5EF4-FFF2-40B4-BE49-F238E27FC236}">
                <a16:creationId xmlns:a16="http://schemas.microsoft.com/office/drawing/2014/main" id="{5CAB5CE6-9612-AA12-6476-572D085E7831}"/>
              </a:ext>
            </a:extLst>
          </p:cNvPr>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03" name="Google Shape;403;p18:notes">
            <a:extLst>
              <a:ext uri="{FF2B5EF4-FFF2-40B4-BE49-F238E27FC236}">
                <a16:creationId xmlns:a16="http://schemas.microsoft.com/office/drawing/2014/main" id="{43816DEF-2153-B916-DA58-89BE55E54CD4}"/>
              </a:ext>
            </a:extLst>
          </p:cNvPr>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extLst>
      <p:ext uri="{BB962C8B-B14F-4D97-AF65-F5344CB8AC3E}">
        <p14:creationId xmlns:p14="http://schemas.microsoft.com/office/powerpoint/2010/main" val="3724933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419" name="Google Shape;419;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1.7.2013</a:t>
            </a:r>
            <a:endParaRPr/>
          </a:p>
        </p:txBody>
      </p:sp>
      <p:sp>
        <p:nvSpPr>
          <p:cNvPr id="420" name="Google Shape;420;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1" name="Google Shape;421;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1.7.2013</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a:t>
            </a:r>
            <a:endParaRPr/>
          </a:p>
        </p:txBody>
      </p:sp>
      <p:sp>
        <p:nvSpPr>
          <p:cNvPr id="422" name="Google Shape;422;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p>
        </p:txBody>
      </p:sp>
      <p:sp>
        <p:nvSpPr>
          <p:cNvPr id="423" name="Google Shape;423;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b="0" i="0" u="none" strike="noStrike" cap="non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93" name="Google Shape;93;p13"/>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94" name="Google Shape;94;p13"/>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95" name="Google Shape;95;p13"/>
          <p:cNvSpPr/>
          <p:nvPr/>
        </p:nvSpPr>
        <p:spPr>
          <a:xfrm>
            <a:off x="12623222" y="888423"/>
            <a:ext cx="5276850" cy="3467100"/>
          </a:xfrm>
          <a:custGeom>
            <a:avLst/>
            <a:gdLst/>
            <a:ahLst/>
            <a:cxnLst/>
            <a:rect l="l" t="t" r="r" b="b"/>
            <a:pathLst>
              <a:path w="7035800" h="4622800" extrusionOk="0">
                <a:moveTo>
                  <a:pt x="0" y="0"/>
                </a:moveTo>
                <a:lnTo>
                  <a:pt x="7035800" y="0"/>
                </a:lnTo>
                <a:lnTo>
                  <a:pt x="7035800" y="4622800"/>
                </a:lnTo>
                <a:lnTo>
                  <a:pt x="0" y="4622800"/>
                </a:lnTo>
                <a:lnTo>
                  <a:pt x="0" y="0"/>
                </a:lnTo>
                <a:close/>
              </a:path>
            </a:pathLst>
          </a:custGeom>
          <a:blipFill rotWithShape="1">
            <a:blip r:embed="rId6">
              <a:alphaModFix/>
            </a:blip>
            <a:stretch>
              <a:fillRect/>
            </a:stretch>
          </a:blipFill>
          <a:ln>
            <a:noFill/>
          </a:ln>
        </p:spPr>
      </p:sp>
      <p:sp>
        <p:nvSpPr>
          <p:cNvPr id="96" name="Google Shape;96;p13"/>
          <p:cNvSpPr/>
          <p:nvPr/>
        </p:nvSpPr>
        <p:spPr>
          <a:xfrm>
            <a:off x="676808" y="5080635"/>
            <a:ext cx="17056799" cy="4469130"/>
          </a:xfrm>
          <a:custGeom>
            <a:avLst/>
            <a:gdLst/>
            <a:ahLst/>
            <a:cxnLst/>
            <a:rect l="l" t="t" r="r" b="b"/>
            <a:pathLst>
              <a:path w="17056799" h="4469130" extrusionOk="0">
                <a:moveTo>
                  <a:pt x="0" y="0"/>
                </a:moveTo>
                <a:lnTo>
                  <a:pt x="17056799" y="0"/>
                </a:lnTo>
                <a:lnTo>
                  <a:pt x="17056799" y="4469130"/>
                </a:lnTo>
                <a:lnTo>
                  <a:pt x="0" y="4469130"/>
                </a:lnTo>
                <a:lnTo>
                  <a:pt x="0" y="0"/>
                </a:lnTo>
                <a:close/>
              </a:path>
            </a:pathLst>
          </a:custGeom>
          <a:blipFill rotWithShape="1">
            <a:blip r:embed="rId7">
              <a:alphaModFix/>
            </a:blip>
            <a:stretch>
              <a:fillRect/>
            </a:stretch>
          </a:blipFill>
          <a:ln>
            <a:noFill/>
          </a:ln>
        </p:spPr>
      </p:sp>
      <p:sp>
        <p:nvSpPr>
          <p:cNvPr id="102" name="Google Shape;102;p13"/>
          <p:cNvSpPr txBox="1"/>
          <p:nvPr/>
        </p:nvSpPr>
        <p:spPr>
          <a:xfrm>
            <a:off x="2391673" y="7207696"/>
            <a:ext cx="14816990" cy="2589271"/>
          </a:xfrm>
          <a:prstGeom prst="rect">
            <a:avLst/>
          </a:prstGeom>
          <a:noFill/>
          <a:ln>
            <a:noFill/>
          </a:ln>
        </p:spPr>
        <p:txBody>
          <a:bodyPr spcFirstLastPara="1" wrap="square" lIns="0" tIns="0" rIns="0" bIns="0" anchor="t" anchorCtr="0">
            <a:noAutofit/>
          </a:bodyPr>
          <a:lstStyle/>
          <a:p>
            <a:pPr algn="r">
              <a:lnSpc>
                <a:spcPts val="3360"/>
              </a:lnSpc>
            </a:pPr>
            <a:r>
              <a:rPr lang="en-US" sz="2400" cap="none" dirty="0">
                <a:solidFill>
                  <a:schemeClr val="bg1"/>
                </a:solidFill>
                <a:latin typeface="Century Gothic" panose="020B0502020202020204" pitchFamily="34" charset="0"/>
              </a:rPr>
              <a:t>3</a:t>
            </a:r>
            <a:r>
              <a:rPr lang="en-US" sz="2400" cap="none" baseline="30000" dirty="0">
                <a:solidFill>
                  <a:schemeClr val="bg1"/>
                </a:solidFill>
                <a:latin typeface="Century Gothic" panose="020B0502020202020204" pitchFamily="34" charset="0"/>
              </a:rPr>
              <a:t>nd</a:t>
            </a:r>
            <a:r>
              <a:rPr lang="en-US" sz="2400" cap="none" dirty="0">
                <a:solidFill>
                  <a:schemeClr val="bg1"/>
                </a:solidFill>
                <a:latin typeface="Century Gothic" panose="020B0502020202020204" pitchFamily="34" charset="0"/>
              </a:rPr>
              <a:t> year B.E</a:t>
            </a:r>
            <a:r>
              <a:rPr lang="en-US" sz="2400" dirty="0">
                <a:solidFill>
                  <a:schemeClr val="bg1"/>
                </a:solidFill>
                <a:latin typeface="Century Gothic" panose="020B0502020202020204" pitchFamily="34" charset="0"/>
              </a:rPr>
              <a:t> CSE(Artificial Intelligence and Machine Learning)</a:t>
            </a:r>
            <a:endParaRPr lang="en-US" sz="2400" cap="none" dirty="0">
              <a:solidFill>
                <a:schemeClr val="bg1"/>
              </a:solidFill>
              <a:latin typeface="Century Gothic" panose="020B0502020202020204" pitchFamily="34" charset="0"/>
            </a:endParaRPr>
          </a:p>
          <a:p>
            <a:pPr algn="r">
              <a:lnSpc>
                <a:spcPts val="3360"/>
              </a:lnSpc>
            </a:pPr>
            <a:r>
              <a:rPr lang="en-US" sz="2400" dirty="0">
                <a:solidFill>
                  <a:schemeClr val="bg1"/>
                </a:solidFill>
                <a:latin typeface="Century Gothic" panose="020B0502020202020204" pitchFamily="34" charset="0"/>
              </a:rPr>
              <a:t>K.S.</a:t>
            </a:r>
            <a:r>
              <a:rPr lang="en-US" sz="2400" cap="none" dirty="0">
                <a:solidFill>
                  <a:schemeClr val="bg1"/>
                </a:solidFill>
                <a:latin typeface="Century Gothic" panose="020B0502020202020204" pitchFamily="34" charset="0"/>
              </a:rPr>
              <a:t>RANGASAMY COLLEGE OF TECHNOLOGY</a:t>
            </a:r>
          </a:p>
          <a:p>
            <a:pPr algn="r">
              <a:lnSpc>
                <a:spcPts val="3360"/>
              </a:lnSpc>
            </a:pPr>
            <a:r>
              <a:rPr lang="en-US" sz="2400" cap="none" dirty="0">
                <a:solidFill>
                  <a:schemeClr val="bg1"/>
                </a:solidFill>
                <a:latin typeface="Century Gothic" panose="020B0502020202020204" pitchFamily="34" charset="0"/>
              </a:rPr>
              <a:t>(Autonomous)</a:t>
            </a:r>
            <a:endParaRPr lang="en-US" sz="2400" dirty="0">
              <a:solidFill>
                <a:schemeClr val="bg1"/>
              </a:solidFill>
              <a:latin typeface="Century Gothic" panose="020B0502020202020204" pitchFamily="34" charset="0"/>
            </a:endParaRPr>
          </a:p>
          <a:p>
            <a:pPr algn="r">
              <a:lnSpc>
                <a:spcPts val="3360"/>
              </a:lnSpc>
            </a:pPr>
            <a:r>
              <a:rPr lang="en-US" sz="2400" cap="none" dirty="0" err="1">
                <a:solidFill>
                  <a:schemeClr val="bg1"/>
                </a:solidFill>
                <a:latin typeface="Century Gothic" panose="020B0502020202020204" pitchFamily="34" charset="0"/>
              </a:rPr>
              <a:t>Tiruchengode</a:t>
            </a:r>
            <a:r>
              <a:rPr lang="en-US" sz="2400" cap="none" dirty="0">
                <a:solidFill>
                  <a:schemeClr val="bg1"/>
                </a:solidFill>
                <a:latin typeface="Century Gothic" panose="020B0502020202020204" pitchFamily="34" charset="0"/>
              </a:rPr>
              <a:t> </a:t>
            </a:r>
            <a:r>
              <a:rPr lang="en-US" sz="2400" dirty="0">
                <a:solidFill>
                  <a:schemeClr val="bg1"/>
                </a:solidFill>
                <a:latin typeface="Century Gothic" panose="020B0502020202020204" pitchFamily="34" charset="0"/>
              </a:rPr>
              <a:t>– 637 215, </a:t>
            </a:r>
            <a:r>
              <a:rPr lang="en-US" sz="2400" cap="none" dirty="0">
                <a:solidFill>
                  <a:schemeClr val="bg1"/>
                </a:solidFill>
                <a:latin typeface="Century Gothic" panose="020B0502020202020204" pitchFamily="34" charset="0"/>
              </a:rPr>
              <a:t>Namakkal Dt</a:t>
            </a:r>
            <a:r>
              <a:rPr lang="en-US" sz="2400" dirty="0">
                <a:solidFill>
                  <a:schemeClr val="bg1"/>
                </a:solidFill>
                <a:latin typeface="Century Gothic" panose="020B0502020202020204" pitchFamily="34" charset="0"/>
              </a:rPr>
              <a:t>. </a:t>
            </a:r>
            <a:r>
              <a:rPr lang="en-US" sz="2400" cap="none" dirty="0">
                <a:solidFill>
                  <a:schemeClr val="bg1"/>
                </a:solidFill>
                <a:latin typeface="Century Gothic" panose="020B0502020202020204" pitchFamily="34" charset="0"/>
              </a:rPr>
              <a:t>Tamil Nadu</a:t>
            </a:r>
            <a:endParaRPr lang="en-US" sz="2400" dirty="0">
              <a:solidFill>
                <a:schemeClr val="bg1"/>
              </a:solidFill>
              <a:latin typeface="Century Gothic" panose="020B0502020202020204" pitchFamily="34" charset="0"/>
            </a:endParaRPr>
          </a:p>
        </p:txBody>
      </p:sp>
      <p:sp>
        <p:nvSpPr>
          <p:cNvPr id="3" name="TextBox 2">
            <a:extLst>
              <a:ext uri="{FF2B5EF4-FFF2-40B4-BE49-F238E27FC236}">
                <a16:creationId xmlns:a16="http://schemas.microsoft.com/office/drawing/2014/main" id="{90F47B03-DD9E-DC8B-4134-FF5AFB07A9FF}"/>
              </a:ext>
            </a:extLst>
          </p:cNvPr>
          <p:cNvSpPr txBox="1"/>
          <p:nvPr/>
        </p:nvSpPr>
        <p:spPr>
          <a:xfrm>
            <a:off x="958646" y="1328073"/>
            <a:ext cx="9144000" cy="584775"/>
          </a:xfrm>
          <a:prstGeom prst="rect">
            <a:avLst/>
          </a:prstGeom>
          <a:noFill/>
        </p:spPr>
        <p:txBody>
          <a:bodyPr wrap="square">
            <a:spAutoFit/>
          </a:bodyPr>
          <a:lstStyle/>
          <a:p>
            <a:r>
              <a:rPr lang="en-IN" sz="3200" b="1" dirty="0">
                <a:solidFill>
                  <a:srgbClr val="0070C0"/>
                </a:solidFill>
              </a:rPr>
              <a:t>Meeting Summarizer Bot Automation</a:t>
            </a:r>
          </a:p>
        </p:txBody>
      </p:sp>
      <p:sp>
        <p:nvSpPr>
          <p:cNvPr id="5" name="TextBox 4">
            <a:extLst>
              <a:ext uri="{FF2B5EF4-FFF2-40B4-BE49-F238E27FC236}">
                <a16:creationId xmlns:a16="http://schemas.microsoft.com/office/drawing/2014/main" id="{4176A4FB-FA79-D2E6-8D11-319035317A2C}"/>
              </a:ext>
            </a:extLst>
          </p:cNvPr>
          <p:cNvSpPr txBox="1"/>
          <p:nvPr/>
        </p:nvSpPr>
        <p:spPr>
          <a:xfrm>
            <a:off x="989126" y="3109115"/>
            <a:ext cx="9144000" cy="584775"/>
          </a:xfrm>
          <a:prstGeom prst="rect">
            <a:avLst/>
          </a:prstGeom>
          <a:noFill/>
        </p:spPr>
        <p:txBody>
          <a:bodyPr wrap="square">
            <a:spAutoFit/>
          </a:bodyPr>
          <a:lstStyle/>
          <a:p>
            <a:r>
              <a:rPr lang="en-US" sz="3200" b="1" dirty="0">
                <a:solidFill>
                  <a:schemeClr val="accent6"/>
                </a:solidFill>
              </a:rPr>
              <a:t>ROBOTIC PROCESS AUTOMATION</a:t>
            </a:r>
          </a:p>
        </p:txBody>
      </p:sp>
      <p:sp>
        <p:nvSpPr>
          <p:cNvPr id="4" name="TextBox 3">
            <a:extLst>
              <a:ext uri="{FF2B5EF4-FFF2-40B4-BE49-F238E27FC236}">
                <a16:creationId xmlns:a16="http://schemas.microsoft.com/office/drawing/2014/main" id="{006E601C-FC05-5582-3A0B-8AE41E478BFA}"/>
              </a:ext>
            </a:extLst>
          </p:cNvPr>
          <p:cNvSpPr txBox="1"/>
          <p:nvPr/>
        </p:nvSpPr>
        <p:spPr>
          <a:xfrm>
            <a:off x="958646" y="5282342"/>
            <a:ext cx="7728155" cy="523220"/>
          </a:xfrm>
          <a:prstGeom prst="rect">
            <a:avLst/>
          </a:prstGeom>
          <a:noFill/>
        </p:spPr>
        <p:txBody>
          <a:bodyPr wrap="square" rtlCol="0">
            <a:spAutoFit/>
          </a:bodyPr>
          <a:lstStyle/>
          <a:p>
            <a:r>
              <a:rPr lang="en-US" sz="2800" dirty="0">
                <a:solidFill>
                  <a:schemeClr val="bg1"/>
                </a:solidFill>
                <a:latin typeface="Arial Black" panose="020B0A04020102020204" pitchFamily="34" charset="0"/>
              </a:rPr>
              <a:t>Praveen S - 2303737714821030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4"/>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12" name="Google Shape;112;p14"/>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13" name="Google Shape;113;p14"/>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14" name="Google Shape;114;p14"/>
          <p:cNvSpPr/>
          <p:nvPr/>
        </p:nvSpPr>
        <p:spPr>
          <a:xfrm>
            <a:off x="484535" y="1120860"/>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115" name="Google Shape;115;p14"/>
          <p:cNvSpPr/>
          <p:nvPr/>
        </p:nvSpPr>
        <p:spPr>
          <a:xfrm>
            <a:off x="475010" y="1111335"/>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nvGrpSpPr>
          <p:cNvPr id="116" name="Google Shape;116;p14"/>
          <p:cNvGrpSpPr/>
          <p:nvPr/>
        </p:nvGrpSpPr>
        <p:grpSpPr>
          <a:xfrm>
            <a:off x="475010" y="1111335"/>
            <a:ext cx="15511750" cy="636975"/>
            <a:chOff x="0" y="0"/>
            <a:chExt cx="19132500" cy="849300"/>
          </a:xfrm>
        </p:grpSpPr>
        <p:sp>
          <p:nvSpPr>
            <p:cNvPr id="117" name="Google Shape;117;p14"/>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118" name="Google Shape;118;p14"/>
            <p:cNvSpPr txBox="1"/>
            <p:nvPr/>
          </p:nvSpPr>
          <p:spPr>
            <a:xfrm>
              <a:off x="0" y="0"/>
              <a:ext cx="19132500" cy="849300"/>
            </a:xfrm>
            <a:prstGeom prst="rect">
              <a:avLst/>
            </a:prstGeom>
            <a:noFill/>
            <a:ln>
              <a:noFill/>
            </a:ln>
          </p:spPr>
          <p:txBody>
            <a:bodyPr spcFirstLastPara="1" wrap="square" lIns="0" tIns="0" rIns="0" bIns="0" anchor="ctr" anchorCtr="0">
              <a:noAutofit/>
            </a:bodyPr>
            <a:lstStyle/>
            <a:p>
              <a:pPr marL="0" marR="0" lvl="0" indent="0" algn="ctr" rtl="0">
                <a:lnSpc>
                  <a:spcPct val="150000"/>
                </a:lnSpc>
                <a:spcBef>
                  <a:spcPts val="0"/>
                </a:spcBef>
                <a:spcAft>
                  <a:spcPts val="0"/>
                </a:spcAft>
                <a:buClr>
                  <a:srgbClr val="FFFFFF"/>
                </a:buClr>
                <a:buSzPts val="2700"/>
                <a:buFont typeface="Century Gothic"/>
                <a:buNone/>
              </a:pPr>
              <a:r>
                <a:rPr lang="en-US" sz="2700" b="1" i="0" u="none" strike="noStrike" cap="none" dirty="0">
                  <a:solidFill>
                    <a:schemeClr val="tx1"/>
                  </a:solidFill>
                  <a:latin typeface="Century Gothic"/>
                  <a:ea typeface="Century Gothic"/>
                  <a:cs typeface="Century Gothic"/>
                  <a:sym typeface="Century Gothic"/>
                </a:rPr>
                <a:t>    INTRODUCTION      </a:t>
              </a:r>
              <a:endParaRPr sz="1800" b="0" i="0" u="none" strike="noStrike" cap="none" dirty="0">
                <a:solidFill>
                  <a:schemeClr val="tx1"/>
                </a:solidFill>
                <a:latin typeface="Calibri"/>
                <a:ea typeface="Calibri"/>
                <a:cs typeface="Calibri"/>
                <a:sym typeface="Calibri"/>
              </a:endParaRPr>
            </a:p>
          </p:txBody>
        </p:sp>
      </p:grpSp>
      <p:sp>
        <p:nvSpPr>
          <p:cNvPr id="119" name="Google Shape;119;p14"/>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120" name="Google Shape;120;p14"/>
          <p:cNvSpPr txBox="1"/>
          <p:nvPr/>
        </p:nvSpPr>
        <p:spPr>
          <a:xfrm>
            <a:off x="899652" y="2340522"/>
            <a:ext cx="16519456" cy="7109608"/>
          </a:xfrm>
          <a:prstGeom prst="rect">
            <a:avLst/>
          </a:prstGeom>
          <a:noFill/>
          <a:ln>
            <a:noFill/>
          </a:ln>
        </p:spPr>
        <p:txBody>
          <a:bodyPr spcFirstLastPara="1" wrap="square" lIns="91425" tIns="91425" rIns="91425" bIns="91425" anchor="t" anchorCtr="0">
            <a:spAutoFit/>
          </a:bodyPr>
          <a:lstStyle/>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Meetings are essential for collaboration, but documenting them is often tedious and time-consuming.</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Manual summarization can cause missed information or inconsistent notes.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Automation ensures accurate, consistent, and quickly available meeting summaries.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Meeting Summarizer Bot in UiPath integrates with transcription and NLP technologies.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It captures key details such as decisions, action items, and follow-ups.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bot can also detect the language of the meeting content automatically.</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It translates the summary into the required language for easy understanding.</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automation removes repetitive work, enabling employees to focus on core tasks.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project showcases how RPA enhances communication and knowledge sharing in organizations.</a:t>
            </a:r>
          </a:p>
          <a:p>
            <a:pPr marL="457200" indent="-457200" algn="just">
              <a:lnSpc>
                <a:spcPct val="150000"/>
              </a:lnSpc>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5"/>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32" name="Google Shape;132;p15"/>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33" name="Google Shape;133;p15"/>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34" name="Google Shape;134;p15"/>
          <p:cNvSpPr/>
          <p:nvPr/>
        </p:nvSpPr>
        <p:spPr>
          <a:xfrm>
            <a:off x="475011" y="981087"/>
            <a:ext cx="14155389" cy="668679"/>
          </a:xfrm>
          <a:custGeom>
            <a:avLst/>
            <a:gdLst/>
            <a:ahLst/>
            <a:cxnLst/>
            <a:rect l="l" t="t" r="r" b="b"/>
            <a:pathLst>
              <a:path w="14349317" h="636937" extrusionOk="0">
                <a:moveTo>
                  <a:pt x="0" y="0"/>
                </a:moveTo>
                <a:lnTo>
                  <a:pt x="14349317" y="0"/>
                </a:lnTo>
                <a:lnTo>
                  <a:pt x="14349317" y="636937"/>
                </a:lnTo>
                <a:lnTo>
                  <a:pt x="0" y="636937"/>
                </a:lnTo>
                <a:lnTo>
                  <a:pt x="0" y="0"/>
                </a:lnTo>
                <a:close/>
              </a:path>
            </a:pathLst>
          </a:custGeom>
          <a:blipFill rotWithShape="1">
            <a:blip r:embed="rId6">
              <a:alphaModFix/>
            </a:blip>
            <a:stretch>
              <a:fillRect/>
            </a:stretch>
          </a:blipFill>
          <a:ln>
            <a:noFill/>
          </a:ln>
        </p:spPr>
      </p:sp>
      <p:sp>
        <p:nvSpPr>
          <p:cNvPr id="135" name="Google Shape;135;p15"/>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7">
              <a:alphaModFix/>
            </a:blip>
            <a:stretch>
              <a:fillRect t="-377" b="-388"/>
            </a:stretch>
          </a:blipFill>
          <a:ln>
            <a:noFill/>
          </a:ln>
        </p:spPr>
      </p:sp>
      <p:grpSp>
        <p:nvGrpSpPr>
          <p:cNvPr id="136" name="Google Shape;136;p15"/>
          <p:cNvGrpSpPr/>
          <p:nvPr/>
        </p:nvGrpSpPr>
        <p:grpSpPr>
          <a:xfrm>
            <a:off x="1439482" y="1054297"/>
            <a:ext cx="12947078" cy="751007"/>
            <a:chOff x="-1087830" y="-1447387"/>
            <a:chExt cx="20194830" cy="2519313"/>
          </a:xfrm>
        </p:grpSpPr>
        <p:sp>
          <p:nvSpPr>
            <p:cNvPr id="137" name="Google Shape;137;p15"/>
            <p:cNvSpPr/>
            <p:nvPr/>
          </p:nvSpPr>
          <p:spPr>
            <a:xfrm>
              <a:off x="0" y="276176"/>
              <a:ext cx="19107000" cy="795750"/>
            </a:xfrm>
            <a:custGeom>
              <a:avLst/>
              <a:gdLst/>
              <a:ahLst/>
              <a:cxnLst/>
              <a:rect l="l" t="t" r="r" b="b"/>
              <a:pathLst>
                <a:path w="19107000" h="795750" extrusionOk="0">
                  <a:moveTo>
                    <a:pt x="0" y="0"/>
                  </a:moveTo>
                  <a:lnTo>
                    <a:pt x="19107000" y="0"/>
                  </a:lnTo>
                  <a:lnTo>
                    <a:pt x="19107000" y="795750"/>
                  </a:lnTo>
                  <a:lnTo>
                    <a:pt x="0" y="795750"/>
                  </a:lnTo>
                  <a:close/>
                </a:path>
              </a:pathLst>
            </a:custGeom>
            <a:solidFill>
              <a:srgbClr val="000000">
                <a:alpha val="0"/>
              </a:srgbClr>
            </a:solidFill>
            <a:ln>
              <a:noFill/>
            </a:ln>
          </p:spPr>
        </p:sp>
        <p:sp>
          <p:nvSpPr>
            <p:cNvPr id="138" name="Google Shape;138;p15"/>
            <p:cNvSpPr txBox="1"/>
            <p:nvPr/>
          </p:nvSpPr>
          <p:spPr>
            <a:xfrm>
              <a:off x="-1087830" y="-1447387"/>
              <a:ext cx="19107002" cy="1723563"/>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FFFFFF"/>
                </a:buClr>
                <a:buSzPts val="2700"/>
                <a:buFont typeface="Calibri"/>
                <a:buNone/>
              </a:pPr>
              <a:r>
                <a:rPr lang="en-US" sz="2700" b="1" i="0" u="none" strike="noStrike" cap="none" dirty="0">
                  <a:solidFill>
                    <a:schemeClr val="tx1"/>
                  </a:solidFill>
                  <a:latin typeface="Century Gothic" panose="020B0502020202020204" pitchFamily="34" charset="0"/>
                  <a:ea typeface="Calibri"/>
                  <a:cs typeface="Calibri"/>
                  <a:sym typeface="Calibri"/>
                </a:rPr>
                <a:t>  ABSTRACT</a:t>
              </a:r>
              <a:endParaRPr sz="1800" b="0" i="0" u="none" strike="noStrike" cap="none" dirty="0">
                <a:solidFill>
                  <a:schemeClr val="tx1"/>
                </a:solidFill>
                <a:latin typeface="Century Gothic" panose="020B0502020202020204" pitchFamily="34" charset="0"/>
                <a:ea typeface="Calibri"/>
                <a:cs typeface="Calibri"/>
                <a:sym typeface="Calibri"/>
              </a:endParaRPr>
            </a:p>
          </p:txBody>
        </p:sp>
      </p:grpSp>
      <p:sp>
        <p:nvSpPr>
          <p:cNvPr id="6" name="Rectangle 5">
            <a:extLst>
              <a:ext uri="{FF2B5EF4-FFF2-40B4-BE49-F238E27FC236}">
                <a16:creationId xmlns:a16="http://schemas.microsoft.com/office/drawing/2014/main" id="{A0AB1F6C-A9FD-F30D-D1DA-284642653913}"/>
              </a:ext>
            </a:extLst>
          </p:cNvPr>
          <p:cNvSpPr>
            <a:spLocks noChangeArrowheads="1"/>
          </p:cNvSpPr>
          <p:nvPr/>
        </p:nvSpPr>
        <p:spPr bwMode="auto">
          <a:xfrm>
            <a:off x="1017639" y="1848757"/>
            <a:ext cx="15916730" cy="8319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Meetings often generate lengthy discussions, making manual summarization time-consuming and inefficient.</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UiPath RPA automates the transcription, extraction, and summarization of meeting content.</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bot integrates with email and conferencing platforms to automatically capture meeting data.</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AI and NLP technologies generate concise summaries that highlight key points and action items.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bot detects the summary's original language and translates it automatically.</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ensures the summary is easy to read for everyone.</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The final summary is automatically delivered to predefined or dynamic email recipients.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This automation reduces manual effort, enhances accuracy, and accelerates meeting documentation.</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It improves decision-making and collaboration through timely and well-structured information sharing.</a:t>
            </a:r>
          </a:p>
          <a:p>
            <a:pPr marL="457200" marR="0" lvl="0" indent="-4572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kumimoji="0" lang="en-US" altLang="en-US" sz="3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187" name="Google Shape;187;p18"/>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188" name="Google Shape;188;p18"/>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189" name="Google Shape;189;p18"/>
          <p:cNvSpPr/>
          <p:nvPr/>
        </p:nvSpPr>
        <p:spPr>
          <a:xfrm>
            <a:off x="475011" y="990796"/>
            <a:ext cx="14349317" cy="636937"/>
          </a:xfrm>
          <a:custGeom>
            <a:avLst/>
            <a:gdLst/>
            <a:ahLst/>
            <a:cxnLst/>
            <a:rect l="l" t="t" r="r" b="b"/>
            <a:pathLst>
              <a:path w="14349317" h="636937" extrusionOk="0">
                <a:moveTo>
                  <a:pt x="0" y="0"/>
                </a:moveTo>
                <a:lnTo>
                  <a:pt x="14349317" y="0"/>
                </a:lnTo>
                <a:lnTo>
                  <a:pt x="14349317" y="636937"/>
                </a:lnTo>
                <a:lnTo>
                  <a:pt x="0" y="636937"/>
                </a:lnTo>
                <a:lnTo>
                  <a:pt x="0" y="0"/>
                </a:lnTo>
                <a:close/>
              </a:path>
            </a:pathLst>
          </a:custGeom>
          <a:blipFill rotWithShape="1">
            <a:blip r:embed="rId6">
              <a:alphaModFix/>
            </a:blip>
            <a:stretch>
              <a:fillRect/>
            </a:stretch>
          </a:blipFill>
          <a:ln>
            <a:noFill/>
          </a:ln>
        </p:spPr>
      </p:sp>
      <p:sp>
        <p:nvSpPr>
          <p:cNvPr id="190" name="Google Shape;190;p18"/>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7">
              <a:alphaModFix/>
            </a:blip>
            <a:stretch>
              <a:fillRect t="-381" b="-383"/>
            </a:stretch>
          </a:blipFill>
          <a:ln>
            <a:noFill/>
          </a:ln>
        </p:spPr>
      </p:sp>
      <p:sp>
        <p:nvSpPr>
          <p:cNvPr id="193" name="Google Shape;193;p18"/>
          <p:cNvSpPr txBox="1"/>
          <p:nvPr/>
        </p:nvSpPr>
        <p:spPr>
          <a:xfrm>
            <a:off x="646459" y="1065302"/>
            <a:ext cx="14330250" cy="467426"/>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sz="2700" b="1" i="0" u="none" strike="noStrike" cap="none" dirty="0">
                <a:solidFill>
                  <a:schemeClr val="tx1"/>
                </a:solidFill>
                <a:latin typeface="Century Gothic" panose="020B0502020202020204" pitchFamily="34" charset="0"/>
                <a:ea typeface="Calibri"/>
                <a:cs typeface="Calibri"/>
                <a:sym typeface="Calibri"/>
              </a:rPr>
              <a:t>KEY FEATURES AND BENEFITS</a:t>
            </a:r>
            <a:endParaRPr dirty="0">
              <a:solidFill>
                <a:schemeClr val="tx1"/>
              </a:solidFill>
              <a:latin typeface="Century Gothic" panose="020B0502020202020204" pitchFamily="34" charset="0"/>
            </a:endParaRPr>
          </a:p>
        </p:txBody>
      </p:sp>
      <p:sp>
        <p:nvSpPr>
          <p:cNvPr id="3" name="TextBox 2">
            <a:extLst>
              <a:ext uri="{FF2B5EF4-FFF2-40B4-BE49-F238E27FC236}">
                <a16:creationId xmlns:a16="http://schemas.microsoft.com/office/drawing/2014/main" id="{EAF720FA-52DB-9B51-53E5-4692999C95C6}"/>
              </a:ext>
            </a:extLst>
          </p:cNvPr>
          <p:cNvSpPr txBox="1"/>
          <p:nvPr/>
        </p:nvSpPr>
        <p:spPr>
          <a:xfrm>
            <a:off x="1037755" y="2022733"/>
            <a:ext cx="16212490" cy="7626831"/>
          </a:xfrm>
          <a:prstGeom prst="rect">
            <a:avLst/>
          </a:prstGeom>
          <a:noFill/>
        </p:spPr>
        <p:txBody>
          <a:bodyPr wrap="square" rtlCol="0">
            <a:spAutoFit/>
          </a:bodyPr>
          <a:lstStyle/>
          <a:p>
            <a:pPr algn="just">
              <a:lnSpc>
                <a:spcPct val="150000"/>
              </a:lnSpc>
            </a:pPr>
            <a:r>
              <a:rPr lang="en-US" sz="3000" b="1" dirty="0">
                <a:latin typeface="Times New Roman" panose="02020603050405020304" pitchFamily="18" charset="0"/>
                <a:cs typeface="Times New Roman" panose="02020603050405020304" pitchFamily="18" charset="0"/>
              </a:rPr>
              <a:t>Key Features</a:t>
            </a:r>
            <a:endParaRPr lang="en-US" sz="30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Uses NLP to generate concise summaries of discussions.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Automatically sends summaries to predefined email IDs.</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Detects meeting language automatically </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Translates the summary to any required language..</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Integrates seamlessly with email and conferencing platforms.</a:t>
            </a:r>
          </a:p>
          <a:p>
            <a:pPr algn="just">
              <a:lnSpc>
                <a:spcPct val="150000"/>
              </a:lnSpc>
            </a:pPr>
            <a:r>
              <a:rPr lang="en-US" sz="3000" b="1" dirty="0">
                <a:latin typeface="Times New Roman" panose="02020603050405020304" pitchFamily="18" charset="0"/>
                <a:cs typeface="Times New Roman" panose="02020603050405020304" pitchFamily="18" charset="0"/>
              </a:rPr>
              <a:t>Benefits</a:t>
            </a:r>
            <a:endParaRPr lang="en-US" sz="3000" dirty="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Saves time by eliminating manual meeting note preparation.</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Helps multilingual teams understand meeting updates easily.</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Improves collaboration through timely sharing of summaries via email.</a:t>
            </a:r>
          </a:p>
          <a:p>
            <a:pPr marL="457200" indent="-457200" algn="just">
              <a:lnSpc>
                <a:spcPct val="150000"/>
              </a:lnSpc>
              <a:buFont typeface="Wingdings" panose="05000000000000000000" pitchFamily="2" charset="2"/>
              <a:buChar char="Ø"/>
            </a:pPr>
            <a:r>
              <a:rPr lang="en-US" sz="3000" dirty="0">
                <a:latin typeface="Times New Roman" panose="02020603050405020304" pitchFamily="18" charset="0"/>
                <a:cs typeface="Times New Roman" panose="02020603050405020304" pitchFamily="18" charset="0"/>
              </a:rPr>
              <a:t>Supports faster decision-making with clear and actionable meeting insights.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9"/>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06" name="Google Shape;206;p19"/>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07" name="Google Shape;207;p19"/>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08" name="Google Shape;208;p19"/>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09" name="Google Shape;209;p19"/>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11" name="Google Shape;211;p19"/>
          <p:cNvSpPr/>
          <p:nvPr/>
        </p:nvSpPr>
        <p:spPr>
          <a:xfrm>
            <a:off x="3451904" y="1047209"/>
            <a:ext cx="8553287" cy="482511"/>
          </a:xfrm>
          <a:custGeom>
            <a:avLst/>
            <a:gdLst/>
            <a:ahLst/>
            <a:cxnLst/>
            <a:rect l="l" t="t" r="r" b="b"/>
            <a:pathLst>
              <a:path w="19132400" h="906350" extrusionOk="0">
                <a:moveTo>
                  <a:pt x="0" y="0"/>
                </a:moveTo>
                <a:lnTo>
                  <a:pt x="19132400" y="0"/>
                </a:lnTo>
                <a:lnTo>
                  <a:pt x="19132400" y="906350"/>
                </a:lnTo>
                <a:lnTo>
                  <a:pt x="0" y="906350"/>
                </a:lnTo>
                <a:close/>
              </a:path>
            </a:pathLst>
          </a:custGeom>
          <a:solidFill>
            <a:srgbClr val="000000">
              <a:alpha val="0"/>
            </a:srgbClr>
          </a:solidFill>
          <a:ln>
            <a:noFill/>
          </a:ln>
        </p:spPr>
        <p:txBody>
          <a:bodyPr/>
          <a:lstStyle/>
          <a:p>
            <a:r>
              <a:rPr lang="en-US" sz="2700" b="1" dirty="0">
                <a:solidFill>
                  <a:schemeClr val="tx1"/>
                </a:solidFill>
                <a:latin typeface="Century Gothic" panose="020B0502020202020204" pitchFamily="34" charset="0"/>
              </a:rPr>
              <a:t>REAL WORLD APPLICATION AND USE CASES OF RPA</a:t>
            </a:r>
          </a:p>
        </p:txBody>
      </p:sp>
      <p:sp>
        <p:nvSpPr>
          <p:cNvPr id="213" name="Google Shape;213;p19"/>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214" name="Google Shape;214;p19"/>
          <p:cNvSpPr txBox="1"/>
          <p:nvPr/>
        </p:nvSpPr>
        <p:spPr>
          <a:xfrm>
            <a:off x="1069257" y="2370319"/>
            <a:ext cx="16149485" cy="6647943"/>
          </a:xfrm>
          <a:prstGeom prst="rect">
            <a:avLst/>
          </a:prstGeom>
          <a:noFill/>
          <a:ln>
            <a:noFill/>
          </a:ln>
        </p:spPr>
        <p:txBody>
          <a:bodyPr spcFirstLastPara="1" wrap="square" lIns="91425" tIns="91425" rIns="91425" bIns="91425" anchor="t" anchorCtr="0">
            <a:spAutoFit/>
          </a:bodyPr>
          <a:lstStyle/>
          <a:p>
            <a:pPr marL="457200" indent="-457200"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Business Meetings </a:t>
            </a:r>
            <a:r>
              <a:rPr lang="en-US" sz="3000" dirty="0">
                <a:latin typeface="Times New Roman" panose="02020603050405020304" pitchFamily="18" charset="0"/>
                <a:cs typeface="Times New Roman" panose="02020603050405020304" pitchFamily="18" charset="0"/>
              </a:rPr>
              <a:t>– Automatically summarizes project or board discussions and emails key highlights to all attendees.</a:t>
            </a:r>
          </a:p>
          <a:p>
            <a:pPr marL="457200" indent="-457200" algn="just">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Customer Engagements</a:t>
            </a:r>
            <a:r>
              <a:rPr lang="en-US" sz="3000" dirty="0">
                <a:latin typeface="Times New Roman" panose="02020603050405020304" pitchFamily="18" charset="0"/>
                <a:cs typeface="Times New Roman" panose="02020603050405020304" pitchFamily="18" charset="0"/>
              </a:rPr>
              <a:t> – Creates structured summaries of client conversations for easy reference and prompt follow-up.</a:t>
            </a:r>
          </a:p>
          <a:p>
            <a:pPr marL="457200" indent="-457200" algn="just">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Academic Institutions </a:t>
            </a:r>
            <a:r>
              <a:rPr lang="en-US" sz="3000" dirty="0">
                <a:latin typeface="Times New Roman" panose="02020603050405020304" pitchFamily="18" charset="0"/>
                <a:cs typeface="Times New Roman" panose="02020603050405020304" pitchFamily="18" charset="0"/>
              </a:rPr>
              <a:t>– Summarizes virtual classes, webinars, or group discussions for students and educators.</a:t>
            </a:r>
          </a:p>
          <a:p>
            <a:pPr marL="457200" indent="-457200" algn="just">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Medical Field</a:t>
            </a:r>
            <a:r>
              <a:rPr lang="en-US" sz="3000" dirty="0">
                <a:latin typeface="Times New Roman" panose="02020603050405020304" pitchFamily="18" charset="0"/>
                <a:cs typeface="Times New Roman" panose="02020603050405020304" pitchFamily="18" charset="0"/>
              </a:rPr>
              <a:t> – Captures and summarizes healthcare consultations or team discussions to ensure precise medical documentation.</a:t>
            </a:r>
          </a:p>
          <a:p>
            <a:pPr marL="457200" indent="-457200" algn="just">
              <a:buFont typeface="Wingdings" panose="05000000000000000000" pitchFamily="2" charset="2"/>
              <a:buChar char="Ø"/>
            </a:pPr>
            <a:endParaRPr lang="en-US" sz="30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3000" b="1" dirty="0">
                <a:latin typeface="Times New Roman" panose="02020603050405020304" pitchFamily="18" charset="0"/>
                <a:cs typeface="Times New Roman" panose="02020603050405020304" pitchFamily="18" charset="0"/>
              </a:rPr>
              <a:t>Cross-Language Meetings </a:t>
            </a:r>
            <a:r>
              <a:rPr lang="en-US" sz="3000" dirty="0">
                <a:latin typeface="Times New Roman" panose="02020603050405020304" pitchFamily="18" charset="0"/>
                <a:cs typeface="Times New Roman" panose="02020603050405020304" pitchFamily="18" charset="0"/>
              </a:rPr>
              <a:t>– Instantly translates summarized discussions for teams speaking different languages.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9"/>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06" name="Google Shape;206;p19"/>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07" name="Google Shape;207;p19"/>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08" name="Google Shape;208;p19"/>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09" name="Google Shape;209;p19"/>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grpSp>
        <p:nvGrpSpPr>
          <p:cNvPr id="210" name="Google Shape;210;p19"/>
          <p:cNvGrpSpPr/>
          <p:nvPr/>
        </p:nvGrpSpPr>
        <p:grpSpPr>
          <a:xfrm>
            <a:off x="475011" y="905071"/>
            <a:ext cx="14349375" cy="722700"/>
            <a:chOff x="0" y="-57151"/>
            <a:chExt cx="19132500" cy="963600"/>
          </a:xfrm>
        </p:grpSpPr>
        <p:sp>
          <p:nvSpPr>
            <p:cNvPr id="211" name="Google Shape;211;p19"/>
            <p:cNvSpPr/>
            <p:nvPr/>
          </p:nvSpPr>
          <p:spPr>
            <a:xfrm>
              <a:off x="0" y="0"/>
              <a:ext cx="19132400" cy="906350"/>
            </a:xfrm>
            <a:custGeom>
              <a:avLst/>
              <a:gdLst/>
              <a:ahLst/>
              <a:cxnLst/>
              <a:rect l="l" t="t" r="r" b="b"/>
              <a:pathLst>
                <a:path w="19132400" h="906350" extrusionOk="0">
                  <a:moveTo>
                    <a:pt x="0" y="0"/>
                  </a:moveTo>
                  <a:lnTo>
                    <a:pt x="19132400" y="0"/>
                  </a:lnTo>
                  <a:lnTo>
                    <a:pt x="19132400" y="906350"/>
                  </a:lnTo>
                  <a:lnTo>
                    <a:pt x="0" y="906350"/>
                  </a:lnTo>
                  <a:close/>
                </a:path>
              </a:pathLst>
            </a:custGeom>
            <a:solidFill>
              <a:srgbClr val="000000">
                <a:alpha val="0"/>
              </a:srgbClr>
            </a:solidFill>
            <a:ln>
              <a:noFill/>
            </a:ln>
          </p:spPr>
        </p:sp>
        <p:sp>
          <p:nvSpPr>
            <p:cNvPr id="212" name="Google Shape;212;p19"/>
            <p:cNvSpPr txBox="1"/>
            <p:nvPr/>
          </p:nvSpPr>
          <p:spPr>
            <a:xfrm>
              <a:off x="0" y="-57151"/>
              <a:ext cx="19132500" cy="963600"/>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FFFFFF"/>
                </a:buClr>
                <a:buSzPts val="2700"/>
                <a:buFont typeface="Calibri"/>
                <a:buNone/>
              </a:pPr>
              <a:r>
                <a:rPr lang="en-US" sz="2700" b="1" i="0" u="none" strike="noStrike" cap="none" dirty="0">
                  <a:solidFill>
                    <a:schemeClr val="tx1"/>
                  </a:solidFill>
                  <a:latin typeface="Century Gothic" panose="020B0502020202020204" pitchFamily="34" charset="0"/>
                  <a:ea typeface="Calibri"/>
                  <a:cs typeface="Calibri"/>
                  <a:sym typeface="Calibri"/>
                </a:rPr>
                <a:t>TOOLS USED</a:t>
              </a:r>
              <a:endParaRPr sz="1800" b="0" i="0" u="none" strike="noStrike" cap="none" dirty="0">
                <a:solidFill>
                  <a:schemeClr val="tx1"/>
                </a:solidFill>
                <a:latin typeface="Century Gothic" panose="020B0502020202020204" pitchFamily="34" charset="0"/>
                <a:ea typeface="Calibri"/>
                <a:cs typeface="Calibri"/>
                <a:sym typeface="Calibri"/>
              </a:endParaRPr>
            </a:p>
          </p:txBody>
        </p:sp>
      </p:grpSp>
      <p:sp>
        <p:nvSpPr>
          <p:cNvPr id="213" name="Google Shape;213;p19"/>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sp>
        <p:nvSpPr>
          <p:cNvPr id="214" name="Google Shape;214;p19"/>
          <p:cNvSpPr txBox="1"/>
          <p:nvPr/>
        </p:nvSpPr>
        <p:spPr>
          <a:xfrm>
            <a:off x="958646" y="2432923"/>
            <a:ext cx="15662788" cy="6417111"/>
          </a:xfrm>
          <a:prstGeom prst="rect">
            <a:avLst/>
          </a:prstGeom>
          <a:noFill/>
          <a:ln>
            <a:noFill/>
          </a:ln>
        </p:spPr>
        <p:txBody>
          <a:bodyPr spcFirstLastPara="1" wrap="square" lIns="91425" tIns="91425" rIns="91425" bIns="91425" anchor="t" anchorCtr="0">
            <a:spAutoFit/>
          </a:bodyPr>
          <a:lstStyle/>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UiPath Studio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a:t>
            </a: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Used to design and build the entire meeting summarization workflow.</a:t>
            </a:r>
          </a:p>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UiPath Integration Service Activities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 Connects AI services for summarizing, detecting language, and translating text.</a:t>
            </a:r>
          </a:p>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UiPath Microsoft Office 365 Activities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 Sends the final translated summary to users through Outlook mail.</a:t>
            </a:r>
          </a:p>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UiPath System Activities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 Handles core actions like reading files, logging messages, and assigning variables.</a:t>
            </a:r>
          </a:p>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Text File (Notepad)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 Stores the long meeting notes used as input for summarization.</a:t>
            </a:r>
          </a:p>
          <a:p>
            <a:pPr marL="533400" lvl="0" indent="-457200" algn="just">
              <a:lnSpc>
                <a:spcPct val="150000"/>
              </a:lnSpc>
              <a:buClr>
                <a:schemeClr val="dk1"/>
              </a:buClr>
              <a:buSzPts val="2400"/>
              <a:buFont typeface="Wingdings" panose="05000000000000000000" pitchFamily="2" charset="2"/>
              <a:buChar char="Ø"/>
            </a:pPr>
            <a:r>
              <a:rPr lang="en-US" sz="3000" b="1" dirty="0">
                <a:solidFill>
                  <a:schemeClr val="dk1"/>
                </a:solidFill>
                <a:latin typeface="Times New Roman" panose="02020603050405020304" pitchFamily="18" charset="0"/>
                <a:ea typeface="Century Gothic"/>
                <a:cs typeface="Times New Roman" panose="02020603050405020304" pitchFamily="18" charset="0"/>
                <a:sym typeface="Century Gothic"/>
              </a:rPr>
              <a:t>Outlook </a:t>
            </a:r>
            <a:r>
              <a:rPr lang="en-US" sz="3000" dirty="0">
                <a:solidFill>
                  <a:schemeClr val="dk1"/>
                </a:solidFill>
                <a:latin typeface="Times New Roman" panose="02020603050405020304" pitchFamily="18" charset="0"/>
                <a:ea typeface="Century Gothic"/>
                <a:cs typeface="Times New Roman" panose="02020603050405020304" pitchFamily="18" charset="0"/>
                <a:sym typeface="Century Gothic"/>
              </a:rPr>
              <a:t>– Delivers the formatted meeting summary to all recipients.</a:t>
            </a:r>
          </a:p>
        </p:txBody>
      </p:sp>
    </p:spTree>
    <p:extLst>
      <p:ext uri="{BB962C8B-B14F-4D97-AF65-F5344CB8AC3E}">
        <p14:creationId xmlns:p14="http://schemas.microsoft.com/office/powerpoint/2010/main" val="2384057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3"/>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79" name="Google Shape;279;p23"/>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80" name="Google Shape;280;p23"/>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81" name="Google Shape;281;p23"/>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82" name="Google Shape;282;p23"/>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3"/>
          <p:cNvGrpSpPr/>
          <p:nvPr/>
        </p:nvGrpSpPr>
        <p:grpSpPr>
          <a:xfrm>
            <a:off x="475011" y="990796"/>
            <a:ext cx="14349300" cy="636900"/>
            <a:chOff x="0" y="0"/>
            <a:chExt cx="19132400" cy="849200"/>
          </a:xfrm>
        </p:grpSpPr>
        <p:sp>
          <p:nvSpPr>
            <p:cNvPr id="284" name="Google Shape;284;p23"/>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285" name="Google Shape;285;p23"/>
            <p:cNvSpPr txBox="1"/>
            <p:nvPr/>
          </p:nvSpPr>
          <p:spPr>
            <a:xfrm>
              <a:off x="0" y="0"/>
              <a:ext cx="19132400" cy="849200"/>
            </a:xfrm>
            <a:prstGeom prst="rect">
              <a:avLst/>
            </a:prstGeom>
            <a:noFill/>
            <a:ln>
              <a:noFill/>
            </a:ln>
          </p:spPr>
          <p:txBody>
            <a:bodyPr spcFirstLastPara="1" wrap="square" lIns="0" tIns="0" rIns="0" bIns="0" anchor="ctr" anchorCtr="0">
              <a:noAutofit/>
            </a:bodyPr>
            <a:lstStyle/>
            <a:p>
              <a:pPr marL="0" marR="0" lvl="0" indent="0" algn="ctr" rtl="0">
                <a:lnSpc>
                  <a:spcPct val="119958"/>
                </a:lnSpc>
                <a:spcBef>
                  <a:spcPts val="0"/>
                </a:spcBef>
                <a:spcAft>
                  <a:spcPts val="0"/>
                </a:spcAft>
                <a:buNone/>
              </a:pPr>
              <a:r>
                <a:rPr lang="en-US" sz="2700" b="1" dirty="0">
                  <a:solidFill>
                    <a:schemeClr val="tx1"/>
                  </a:solidFill>
                  <a:latin typeface="Century Gothic"/>
                  <a:sym typeface="Century Gothic"/>
                </a:rPr>
                <a:t>WORK FLOW</a:t>
              </a:r>
              <a:endParaRPr sz="2700" dirty="0">
                <a:solidFill>
                  <a:schemeClr val="tx1"/>
                </a:solidFill>
              </a:endParaRPr>
            </a:p>
          </p:txBody>
        </p:sp>
      </p:grpSp>
      <p:sp>
        <p:nvSpPr>
          <p:cNvPr id="286" name="Google Shape;286;p23"/>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pic>
        <p:nvPicPr>
          <p:cNvPr id="4" name="Picture 3">
            <a:extLst>
              <a:ext uri="{FF2B5EF4-FFF2-40B4-BE49-F238E27FC236}">
                <a16:creationId xmlns:a16="http://schemas.microsoft.com/office/drawing/2014/main" id="{2C3B33A6-AEEE-132F-0148-7E40DAFA51F1}"/>
              </a:ext>
            </a:extLst>
          </p:cNvPr>
          <p:cNvPicPr>
            <a:picLocks noChangeAspect="1"/>
          </p:cNvPicPr>
          <p:nvPr/>
        </p:nvPicPr>
        <p:blipFill>
          <a:blip r:embed="rId7"/>
          <a:stretch>
            <a:fillRect/>
          </a:stretch>
        </p:blipFill>
        <p:spPr>
          <a:xfrm>
            <a:off x="3455816" y="2032258"/>
            <a:ext cx="4627121" cy="7263946"/>
          </a:xfrm>
          <a:prstGeom prst="rect">
            <a:avLst/>
          </a:prstGeom>
        </p:spPr>
      </p:pic>
      <p:pic>
        <p:nvPicPr>
          <p:cNvPr id="3" name="Picture 2">
            <a:extLst>
              <a:ext uri="{FF2B5EF4-FFF2-40B4-BE49-F238E27FC236}">
                <a16:creationId xmlns:a16="http://schemas.microsoft.com/office/drawing/2014/main" id="{EB81D698-D892-3B89-B6A1-8D85644D1C1C}"/>
              </a:ext>
            </a:extLst>
          </p:cNvPr>
          <p:cNvPicPr>
            <a:picLocks noChangeAspect="1"/>
          </p:cNvPicPr>
          <p:nvPr/>
        </p:nvPicPr>
        <p:blipFill>
          <a:blip r:embed="rId8"/>
          <a:stretch>
            <a:fillRect/>
          </a:stretch>
        </p:blipFill>
        <p:spPr>
          <a:xfrm>
            <a:off x="8470984" y="2022733"/>
            <a:ext cx="4494249" cy="74030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a:extLst>
            <a:ext uri="{FF2B5EF4-FFF2-40B4-BE49-F238E27FC236}">
              <a16:creationId xmlns:a16="http://schemas.microsoft.com/office/drawing/2014/main" id="{817A9F33-DD96-7221-D1BF-E7E705130785}"/>
            </a:ext>
          </a:extLst>
        </p:cNvPr>
        <p:cNvGrpSpPr/>
        <p:nvPr/>
      </p:nvGrpSpPr>
      <p:grpSpPr>
        <a:xfrm>
          <a:off x="0" y="0"/>
          <a:ext cx="0" cy="0"/>
          <a:chOff x="0" y="0"/>
          <a:chExt cx="0" cy="0"/>
        </a:xfrm>
      </p:grpSpPr>
      <p:sp>
        <p:nvSpPr>
          <p:cNvPr id="278" name="Google Shape;278;p23">
            <a:extLst>
              <a:ext uri="{FF2B5EF4-FFF2-40B4-BE49-F238E27FC236}">
                <a16:creationId xmlns:a16="http://schemas.microsoft.com/office/drawing/2014/main" id="{A105DCEB-A1EA-140C-3010-135AE17E5C70}"/>
              </a:ext>
            </a:extLst>
          </p:cNvPr>
          <p:cNvSpPr/>
          <p:nvPr/>
        </p:nvSpPr>
        <p:spPr>
          <a:xfrm>
            <a:off x="475011"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3">
              <a:alphaModFix/>
            </a:blip>
            <a:stretch>
              <a:fillRect/>
            </a:stretch>
          </a:blipFill>
          <a:ln>
            <a:noFill/>
          </a:ln>
        </p:spPr>
      </p:sp>
      <p:sp>
        <p:nvSpPr>
          <p:cNvPr id="279" name="Google Shape;279;p23">
            <a:extLst>
              <a:ext uri="{FF2B5EF4-FFF2-40B4-BE49-F238E27FC236}">
                <a16:creationId xmlns:a16="http://schemas.microsoft.com/office/drawing/2014/main" id="{0FA37271-80AB-2D5C-E7E3-F9596E7B1C39}"/>
              </a:ext>
            </a:extLst>
          </p:cNvPr>
          <p:cNvSpPr/>
          <p:nvPr/>
        </p:nvSpPr>
        <p:spPr>
          <a:xfrm>
            <a:off x="6383974"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4">
              <a:alphaModFix/>
            </a:blip>
            <a:stretch>
              <a:fillRect/>
            </a:stretch>
          </a:blipFill>
          <a:ln>
            <a:noFill/>
          </a:ln>
        </p:spPr>
      </p:sp>
      <p:sp>
        <p:nvSpPr>
          <p:cNvPr id="280" name="Google Shape;280;p23">
            <a:extLst>
              <a:ext uri="{FF2B5EF4-FFF2-40B4-BE49-F238E27FC236}">
                <a16:creationId xmlns:a16="http://schemas.microsoft.com/office/drawing/2014/main" id="{B897CE80-8094-6B3F-0D27-836E0B9A66E4}"/>
              </a:ext>
            </a:extLst>
          </p:cNvPr>
          <p:cNvSpPr/>
          <p:nvPr/>
        </p:nvSpPr>
        <p:spPr>
          <a:xfrm>
            <a:off x="12292938" y="612544"/>
            <a:ext cx="5616607" cy="87439"/>
          </a:xfrm>
          <a:custGeom>
            <a:avLst/>
            <a:gdLst/>
            <a:ahLst/>
            <a:cxnLst/>
            <a:rect l="l" t="t" r="r" b="b"/>
            <a:pathLst>
              <a:path w="5616607" h="87439" extrusionOk="0">
                <a:moveTo>
                  <a:pt x="0" y="0"/>
                </a:moveTo>
                <a:lnTo>
                  <a:pt x="5616607" y="0"/>
                </a:lnTo>
                <a:lnTo>
                  <a:pt x="5616607" y="87439"/>
                </a:lnTo>
                <a:lnTo>
                  <a:pt x="0" y="87439"/>
                </a:lnTo>
                <a:lnTo>
                  <a:pt x="0" y="0"/>
                </a:lnTo>
                <a:close/>
              </a:path>
            </a:pathLst>
          </a:custGeom>
          <a:blipFill rotWithShape="1">
            <a:blip r:embed="rId5">
              <a:alphaModFix/>
            </a:blip>
            <a:stretch>
              <a:fillRect/>
            </a:stretch>
          </a:blipFill>
          <a:ln>
            <a:noFill/>
          </a:ln>
        </p:spPr>
      </p:sp>
      <p:sp>
        <p:nvSpPr>
          <p:cNvPr id="281" name="Google Shape;281;p23">
            <a:extLst>
              <a:ext uri="{FF2B5EF4-FFF2-40B4-BE49-F238E27FC236}">
                <a16:creationId xmlns:a16="http://schemas.microsoft.com/office/drawing/2014/main" id="{5E2D82D7-4EC5-1238-A5F1-C9F47B13A391}"/>
              </a:ext>
            </a:extLst>
          </p:cNvPr>
          <p:cNvSpPr/>
          <p:nvPr/>
        </p:nvSpPr>
        <p:spPr>
          <a:xfrm>
            <a:off x="484536" y="1000321"/>
            <a:ext cx="14330267" cy="617887"/>
          </a:xfrm>
          <a:custGeom>
            <a:avLst/>
            <a:gdLst/>
            <a:ahLst/>
            <a:cxnLst/>
            <a:rect l="l" t="t" r="r" b="b"/>
            <a:pathLst>
              <a:path w="19107023" h="823849" extrusionOk="0">
                <a:moveTo>
                  <a:pt x="0" y="0"/>
                </a:moveTo>
                <a:lnTo>
                  <a:pt x="19107023" y="0"/>
                </a:lnTo>
                <a:lnTo>
                  <a:pt x="19107023" y="823849"/>
                </a:lnTo>
                <a:lnTo>
                  <a:pt x="0" y="823849"/>
                </a:lnTo>
                <a:close/>
              </a:path>
            </a:pathLst>
          </a:custGeom>
          <a:solidFill>
            <a:srgbClr val="0070C0"/>
          </a:solidFill>
          <a:ln>
            <a:noFill/>
          </a:ln>
        </p:spPr>
      </p:sp>
      <p:sp>
        <p:nvSpPr>
          <p:cNvPr id="282" name="Google Shape;282;p23">
            <a:extLst>
              <a:ext uri="{FF2B5EF4-FFF2-40B4-BE49-F238E27FC236}">
                <a16:creationId xmlns:a16="http://schemas.microsoft.com/office/drawing/2014/main" id="{808CF898-8C1E-E7EF-C5A6-5FF7064E9F61}"/>
              </a:ext>
            </a:extLst>
          </p:cNvPr>
          <p:cNvSpPr/>
          <p:nvPr/>
        </p:nvSpPr>
        <p:spPr>
          <a:xfrm>
            <a:off x="475011" y="990796"/>
            <a:ext cx="14349317" cy="636937"/>
          </a:xfrm>
          <a:custGeom>
            <a:avLst/>
            <a:gdLst/>
            <a:ahLst/>
            <a:cxnLst/>
            <a:rect l="l" t="t" r="r" b="b"/>
            <a:pathLst>
              <a:path w="19132423" h="849249" extrusionOk="0">
                <a:moveTo>
                  <a:pt x="12700" y="0"/>
                </a:moveTo>
                <a:lnTo>
                  <a:pt x="19119723" y="0"/>
                </a:lnTo>
                <a:cubicBezTo>
                  <a:pt x="19126708" y="0"/>
                  <a:pt x="19132423" y="5715"/>
                  <a:pt x="19132423" y="12700"/>
                </a:cubicBezTo>
                <a:lnTo>
                  <a:pt x="19132423" y="836549"/>
                </a:lnTo>
                <a:cubicBezTo>
                  <a:pt x="19132423" y="843534"/>
                  <a:pt x="19126708" y="849249"/>
                  <a:pt x="19119723"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723" y="823849"/>
                </a:lnTo>
                <a:lnTo>
                  <a:pt x="19119723" y="836549"/>
                </a:lnTo>
                <a:lnTo>
                  <a:pt x="19107023" y="836549"/>
                </a:lnTo>
                <a:lnTo>
                  <a:pt x="19107023" y="12700"/>
                </a:lnTo>
                <a:lnTo>
                  <a:pt x="19119723" y="12700"/>
                </a:lnTo>
                <a:lnTo>
                  <a:pt x="19119723"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3">
            <a:extLst>
              <a:ext uri="{FF2B5EF4-FFF2-40B4-BE49-F238E27FC236}">
                <a16:creationId xmlns:a16="http://schemas.microsoft.com/office/drawing/2014/main" id="{569E3FEE-D598-FF67-8645-E4B01417DF19}"/>
              </a:ext>
            </a:extLst>
          </p:cNvPr>
          <p:cNvGrpSpPr/>
          <p:nvPr/>
        </p:nvGrpSpPr>
        <p:grpSpPr>
          <a:xfrm>
            <a:off x="475011" y="990796"/>
            <a:ext cx="14349300" cy="636900"/>
            <a:chOff x="0" y="0"/>
            <a:chExt cx="19132400" cy="849200"/>
          </a:xfrm>
        </p:grpSpPr>
        <p:sp>
          <p:nvSpPr>
            <p:cNvPr id="284" name="Google Shape;284;p23">
              <a:extLst>
                <a:ext uri="{FF2B5EF4-FFF2-40B4-BE49-F238E27FC236}">
                  <a16:creationId xmlns:a16="http://schemas.microsoft.com/office/drawing/2014/main" id="{8FD2AC77-1FD7-06CB-8997-378851D01FBF}"/>
                </a:ext>
              </a:extLst>
            </p:cNvPr>
            <p:cNvSpPr/>
            <p:nvPr/>
          </p:nvSpPr>
          <p:spPr>
            <a:xfrm>
              <a:off x="0" y="0"/>
              <a:ext cx="19132400" cy="849200"/>
            </a:xfrm>
            <a:custGeom>
              <a:avLst/>
              <a:gdLst/>
              <a:ahLst/>
              <a:cxnLst/>
              <a:rect l="l" t="t" r="r" b="b"/>
              <a:pathLst>
                <a:path w="19132400" h="849200" extrusionOk="0">
                  <a:moveTo>
                    <a:pt x="0" y="0"/>
                  </a:moveTo>
                  <a:lnTo>
                    <a:pt x="19132400" y="0"/>
                  </a:lnTo>
                  <a:lnTo>
                    <a:pt x="19132400" y="849200"/>
                  </a:lnTo>
                  <a:lnTo>
                    <a:pt x="0" y="849200"/>
                  </a:lnTo>
                  <a:close/>
                </a:path>
              </a:pathLst>
            </a:custGeom>
            <a:solidFill>
              <a:srgbClr val="000000">
                <a:alpha val="0"/>
              </a:srgbClr>
            </a:solidFill>
            <a:ln>
              <a:noFill/>
            </a:ln>
          </p:spPr>
        </p:sp>
        <p:sp>
          <p:nvSpPr>
            <p:cNvPr id="285" name="Google Shape;285;p23">
              <a:extLst>
                <a:ext uri="{FF2B5EF4-FFF2-40B4-BE49-F238E27FC236}">
                  <a16:creationId xmlns:a16="http://schemas.microsoft.com/office/drawing/2014/main" id="{A98E28CA-8DEC-D224-A256-E166916E30C5}"/>
                </a:ext>
              </a:extLst>
            </p:cNvPr>
            <p:cNvSpPr txBox="1"/>
            <p:nvPr/>
          </p:nvSpPr>
          <p:spPr>
            <a:xfrm>
              <a:off x="0" y="0"/>
              <a:ext cx="19132400" cy="849200"/>
            </a:xfrm>
            <a:prstGeom prst="rect">
              <a:avLst/>
            </a:prstGeom>
            <a:noFill/>
            <a:ln>
              <a:noFill/>
            </a:ln>
          </p:spPr>
          <p:txBody>
            <a:bodyPr spcFirstLastPara="1" wrap="square" lIns="0" tIns="0" rIns="0" bIns="0" anchor="ctr" anchorCtr="0">
              <a:noAutofit/>
            </a:bodyPr>
            <a:lstStyle/>
            <a:p>
              <a:pPr marL="0" marR="0" lvl="0" indent="0" algn="ctr" rtl="0">
                <a:lnSpc>
                  <a:spcPct val="119958"/>
                </a:lnSpc>
                <a:spcBef>
                  <a:spcPts val="0"/>
                </a:spcBef>
                <a:spcAft>
                  <a:spcPts val="0"/>
                </a:spcAft>
                <a:buNone/>
              </a:pPr>
              <a:r>
                <a:rPr lang="en-US" sz="2700" b="1" dirty="0">
                  <a:solidFill>
                    <a:schemeClr val="tx1"/>
                  </a:solidFill>
                  <a:latin typeface="Century Gothic"/>
                  <a:sym typeface="Century Gothic"/>
                </a:rPr>
                <a:t>WORK FLOW</a:t>
              </a:r>
              <a:endParaRPr sz="2700" dirty="0">
                <a:solidFill>
                  <a:schemeClr val="tx1"/>
                </a:solidFill>
              </a:endParaRPr>
            </a:p>
          </p:txBody>
        </p:sp>
      </p:grpSp>
      <p:sp>
        <p:nvSpPr>
          <p:cNvPr id="286" name="Google Shape;286;p23">
            <a:extLst>
              <a:ext uri="{FF2B5EF4-FFF2-40B4-BE49-F238E27FC236}">
                <a16:creationId xmlns:a16="http://schemas.microsoft.com/office/drawing/2014/main" id="{DC553A3D-624A-895F-DBEF-A06BC02D78EC}"/>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pic>
        <p:nvPicPr>
          <p:cNvPr id="5" name="Picture 4">
            <a:extLst>
              <a:ext uri="{FF2B5EF4-FFF2-40B4-BE49-F238E27FC236}">
                <a16:creationId xmlns:a16="http://schemas.microsoft.com/office/drawing/2014/main" id="{FE2C2C9C-E48E-9495-8FEF-A0DD3160F0D7}"/>
              </a:ext>
            </a:extLst>
          </p:cNvPr>
          <p:cNvPicPr>
            <a:picLocks noChangeAspect="1"/>
          </p:cNvPicPr>
          <p:nvPr/>
        </p:nvPicPr>
        <p:blipFill>
          <a:blip r:embed="rId7"/>
          <a:stretch>
            <a:fillRect/>
          </a:stretch>
        </p:blipFill>
        <p:spPr>
          <a:xfrm>
            <a:off x="3471982" y="2022733"/>
            <a:ext cx="4501787" cy="7651723"/>
          </a:xfrm>
          <a:prstGeom prst="rect">
            <a:avLst/>
          </a:prstGeom>
        </p:spPr>
      </p:pic>
      <p:pic>
        <p:nvPicPr>
          <p:cNvPr id="7" name="Picture 6">
            <a:extLst>
              <a:ext uri="{FF2B5EF4-FFF2-40B4-BE49-F238E27FC236}">
                <a16:creationId xmlns:a16="http://schemas.microsoft.com/office/drawing/2014/main" id="{F3CBD160-7B77-CB10-FEE0-F3A5EC38B80D}"/>
              </a:ext>
            </a:extLst>
          </p:cNvPr>
          <p:cNvPicPr>
            <a:picLocks noChangeAspect="1"/>
          </p:cNvPicPr>
          <p:nvPr/>
        </p:nvPicPr>
        <p:blipFill>
          <a:blip r:embed="rId8"/>
          <a:stretch>
            <a:fillRect/>
          </a:stretch>
        </p:blipFill>
        <p:spPr>
          <a:xfrm>
            <a:off x="8241183" y="1918509"/>
            <a:ext cx="5104900" cy="8167840"/>
          </a:xfrm>
          <a:prstGeom prst="rect">
            <a:avLst/>
          </a:prstGeom>
        </p:spPr>
      </p:pic>
    </p:spTree>
    <p:extLst>
      <p:ext uri="{BB962C8B-B14F-4D97-AF65-F5344CB8AC3E}">
        <p14:creationId xmlns:p14="http://schemas.microsoft.com/office/powerpoint/2010/main" val="3043947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6">
          <a:extLst>
            <a:ext uri="{FF2B5EF4-FFF2-40B4-BE49-F238E27FC236}">
              <a16:creationId xmlns:a16="http://schemas.microsoft.com/office/drawing/2014/main" id="{896C8AA8-A6B9-4EA7-7597-A1E380A41CFC}"/>
            </a:ext>
          </a:extLst>
        </p:cNvPr>
        <p:cNvGrpSpPr/>
        <p:nvPr/>
      </p:nvGrpSpPr>
      <p:grpSpPr>
        <a:xfrm>
          <a:off x="0" y="0"/>
          <a:ext cx="0" cy="0"/>
          <a:chOff x="0" y="0"/>
          <a:chExt cx="0" cy="0"/>
        </a:xfrm>
      </p:grpSpPr>
      <p:sp>
        <p:nvSpPr>
          <p:cNvPr id="347" name="Google Shape;347;p27">
            <a:extLst>
              <a:ext uri="{FF2B5EF4-FFF2-40B4-BE49-F238E27FC236}">
                <a16:creationId xmlns:a16="http://schemas.microsoft.com/office/drawing/2014/main" id="{38D680F5-E970-F468-05F9-1007A5AE163B}"/>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a:extLst>
              <a:ext uri="{FF2B5EF4-FFF2-40B4-BE49-F238E27FC236}">
                <a16:creationId xmlns:a16="http://schemas.microsoft.com/office/drawing/2014/main" id="{2A7C181E-58E5-1345-1302-9DFFFB1C1379}"/>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a:extLst>
              <a:ext uri="{FF2B5EF4-FFF2-40B4-BE49-F238E27FC236}">
                <a16:creationId xmlns:a16="http://schemas.microsoft.com/office/drawing/2014/main" id="{AA7E7AFD-C35E-0A59-896D-2A2B385A33E4}"/>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a:extLst>
              <a:ext uri="{FF2B5EF4-FFF2-40B4-BE49-F238E27FC236}">
                <a16:creationId xmlns:a16="http://schemas.microsoft.com/office/drawing/2014/main" id="{EE3B1C55-33CA-2449-C0C6-19E24176514A}"/>
              </a:ext>
            </a:extLst>
          </p:cNvPr>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a:extLst>
              <a:ext uri="{FF2B5EF4-FFF2-40B4-BE49-F238E27FC236}">
                <a16:creationId xmlns:a16="http://schemas.microsoft.com/office/drawing/2014/main" id="{49C7DCA7-58F1-001C-3163-B995A4134392}"/>
              </a:ext>
            </a:extLst>
          </p:cNvPr>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a:extLst>
              <a:ext uri="{FF2B5EF4-FFF2-40B4-BE49-F238E27FC236}">
                <a16:creationId xmlns:a16="http://schemas.microsoft.com/office/drawing/2014/main" id="{D511C1D7-CDCE-87A9-6BE4-50C02174F310}"/>
              </a:ext>
            </a:extLst>
          </p:cNvPr>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FFFFFF"/>
              </a:buClr>
              <a:buSzPts val="2700"/>
              <a:buFont typeface="Century Gothic"/>
              <a:buNone/>
            </a:pPr>
            <a:r>
              <a:rPr lang="en-US" sz="2700" b="1" dirty="0">
                <a:solidFill>
                  <a:schemeClr val="tx1"/>
                </a:solidFill>
                <a:latin typeface="Century Gothic"/>
                <a:ea typeface="Calibri"/>
                <a:cs typeface="Calibri"/>
                <a:sym typeface="Century Gothic"/>
              </a:rPr>
              <a:t>INPUT </a:t>
            </a:r>
            <a:endParaRPr sz="1800" b="0" i="0" u="none" strike="noStrike" cap="none" dirty="0">
              <a:solidFill>
                <a:schemeClr val="tx1"/>
              </a:solidFill>
              <a:latin typeface="Calibri"/>
              <a:ea typeface="Calibri"/>
              <a:cs typeface="Calibri"/>
              <a:sym typeface="Calibri"/>
            </a:endParaRPr>
          </a:p>
        </p:txBody>
      </p:sp>
      <p:sp>
        <p:nvSpPr>
          <p:cNvPr id="355" name="Google Shape;355;p27">
            <a:extLst>
              <a:ext uri="{FF2B5EF4-FFF2-40B4-BE49-F238E27FC236}">
                <a16:creationId xmlns:a16="http://schemas.microsoft.com/office/drawing/2014/main" id="{77923FFE-6044-9A01-5AC5-741CA9CBCB0A}"/>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4" name="Picture 3">
            <a:extLst>
              <a:ext uri="{FF2B5EF4-FFF2-40B4-BE49-F238E27FC236}">
                <a16:creationId xmlns:a16="http://schemas.microsoft.com/office/drawing/2014/main" id="{60A00257-876F-1AB8-531F-B443C623A5BF}"/>
              </a:ext>
            </a:extLst>
          </p:cNvPr>
          <p:cNvPicPr>
            <a:picLocks noChangeAspect="1"/>
          </p:cNvPicPr>
          <p:nvPr/>
        </p:nvPicPr>
        <p:blipFill>
          <a:blip r:embed="rId7"/>
          <a:stretch>
            <a:fillRect/>
          </a:stretch>
        </p:blipFill>
        <p:spPr>
          <a:xfrm>
            <a:off x="1297715" y="2760992"/>
            <a:ext cx="7646667" cy="7239552"/>
          </a:xfrm>
          <a:prstGeom prst="rect">
            <a:avLst/>
          </a:prstGeom>
        </p:spPr>
      </p:pic>
      <p:pic>
        <p:nvPicPr>
          <p:cNvPr id="6" name="Picture 5">
            <a:extLst>
              <a:ext uri="{FF2B5EF4-FFF2-40B4-BE49-F238E27FC236}">
                <a16:creationId xmlns:a16="http://schemas.microsoft.com/office/drawing/2014/main" id="{3F2CD301-42DD-DBD0-DBDB-A73C85937DAE}"/>
              </a:ext>
            </a:extLst>
          </p:cNvPr>
          <p:cNvPicPr>
            <a:picLocks noChangeAspect="1"/>
          </p:cNvPicPr>
          <p:nvPr/>
        </p:nvPicPr>
        <p:blipFill>
          <a:blip r:embed="rId8"/>
          <a:stretch>
            <a:fillRect/>
          </a:stretch>
        </p:blipFill>
        <p:spPr>
          <a:xfrm>
            <a:off x="9144000" y="2760992"/>
            <a:ext cx="7658066" cy="7278254"/>
          </a:xfrm>
          <a:prstGeom prst="rect">
            <a:avLst/>
          </a:prstGeom>
        </p:spPr>
      </p:pic>
      <p:sp>
        <p:nvSpPr>
          <p:cNvPr id="7" name="Google Shape;354;p27">
            <a:extLst>
              <a:ext uri="{FF2B5EF4-FFF2-40B4-BE49-F238E27FC236}">
                <a16:creationId xmlns:a16="http://schemas.microsoft.com/office/drawing/2014/main" id="{6C6F9252-FE1F-427C-2F2C-AFC72752E55B}"/>
              </a:ext>
            </a:extLst>
          </p:cNvPr>
          <p:cNvSpPr txBox="1"/>
          <p:nvPr/>
        </p:nvSpPr>
        <p:spPr>
          <a:xfrm>
            <a:off x="1297715" y="1918356"/>
            <a:ext cx="14349151" cy="617888"/>
          </a:xfrm>
          <a:prstGeom prst="rect">
            <a:avLst/>
          </a:prstGeom>
          <a:noFill/>
          <a:ln>
            <a:noFill/>
          </a:ln>
        </p:spPr>
        <p:txBody>
          <a:bodyPr spcFirstLastPara="1" wrap="square" lIns="0" tIns="0" rIns="0" bIns="0" anchor="ctr" anchorCtr="0">
            <a:noAutofit/>
          </a:bodyPr>
          <a:lstStyle/>
          <a:p>
            <a:pPr marL="0" marR="0" lvl="0" indent="0" rtl="0">
              <a:lnSpc>
                <a:spcPct val="120000"/>
              </a:lnSpc>
              <a:spcBef>
                <a:spcPts val="0"/>
              </a:spcBef>
              <a:spcAft>
                <a:spcPts val="0"/>
              </a:spcAft>
              <a:buClr>
                <a:srgbClr val="FFFFFF"/>
              </a:buClr>
              <a:buSzPts val="2700"/>
              <a:buFont typeface="Century Gothic"/>
              <a:buNone/>
            </a:pPr>
            <a:r>
              <a:rPr lang="en-US" sz="2700" b="1" dirty="0">
                <a:solidFill>
                  <a:schemeClr val="tx1"/>
                </a:solidFill>
                <a:latin typeface="Times New Roman" panose="02020603050405020304" pitchFamily="18" charset="0"/>
                <a:ea typeface="Calibri"/>
                <a:cs typeface="Times New Roman" panose="02020603050405020304" pitchFamily="18" charset="0"/>
                <a:sym typeface="Century Gothic"/>
              </a:rPr>
              <a:t>Long meeting notes in unknown language :</a:t>
            </a:r>
            <a:endParaRPr sz="1800" b="1" i="0" u="none" strike="noStrike" cap="none" dirty="0">
              <a:solidFill>
                <a:schemeClr val="tx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559623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7"/>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FFFFFF"/>
              </a:buClr>
              <a:buSzPts val="2700"/>
              <a:buFont typeface="Century Gothic"/>
              <a:buNone/>
            </a:pPr>
            <a:r>
              <a:rPr lang="en-US" sz="2700" b="1" dirty="0">
                <a:solidFill>
                  <a:schemeClr val="tx1"/>
                </a:solidFill>
                <a:latin typeface="Century Gothic"/>
                <a:ea typeface="Calibri"/>
                <a:cs typeface="Calibri"/>
                <a:sym typeface="Century Gothic"/>
              </a:rPr>
              <a:t>OUTPUT </a:t>
            </a:r>
            <a:endParaRPr sz="1800" b="0" i="0" u="none" strike="noStrike" cap="none" dirty="0">
              <a:solidFill>
                <a:schemeClr val="tx1"/>
              </a:solidFill>
              <a:latin typeface="Calibri"/>
              <a:ea typeface="Calibri"/>
              <a:cs typeface="Calibri"/>
              <a:sym typeface="Calibri"/>
            </a:endParaRPr>
          </a:p>
        </p:txBody>
      </p:sp>
      <p:sp>
        <p:nvSpPr>
          <p:cNvPr id="355" name="Google Shape;355;p27"/>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4" name="Picture 3">
            <a:extLst>
              <a:ext uri="{FF2B5EF4-FFF2-40B4-BE49-F238E27FC236}">
                <a16:creationId xmlns:a16="http://schemas.microsoft.com/office/drawing/2014/main" id="{FE01F580-0193-D29B-933F-37F3526CC7F8}"/>
              </a:ext>
            </a:extLst>
          </p:cNvPr>
          <p:cNvPicPr>
            <a:picLocks noChangeAspect="1"/>
          </p:cNvPicPr>
          <p:nvPr/>
        </p:nvPicPr>
        <p:blipFill>
          <a:blip r:embed="rId7"/>
          <a:stretch>
            <a:fillRect/>
          </a:stretch>
        </p:blipFill>
        <p:spPr>
          <a:xfrm>
            <a:off x="2594123" y="2511974"/>
            <a:ext cx="12427611" cy="63122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6">
          <a:extLst>
            <a:ext uri="{FF2B5EF4-FFF2-40B4-BE49-F238E27FC236}">
              <a16:creationId xmlns:a16="http://schemas.microsoft.com/office/drawing/2014/main" id="{BAAAB36C-2AF1-0766-65FD-5D1EE5B08990}"/>
            </a:ext>
          </a:extLst>
        </p:cNvPr>
        <p:cNvGrpSpPr/>
        <p:nvPr/>
      </p:nvGrpSpPr>
      <p:grpSpPr>
        <a:xfrm>
          <a:off x="0" y="0"/>
          <a:ext cx="0" cy="0"/>
          <a:chOff x="0" y="0"/>
          <a:chExt cx="0" cy="0"/>
        </a:xfrm>
      </p:grpSpPr>
      <p:sp>
        <p:nvSpPr>
          <p:cNvPr id="347" name="Google Shape;347;p27">
            <a:extLst>
              <a:ext uri="{FF2B5EF4-FFF2-40B4-BE49-F238E27FC236}">
                <a16:creationId xmlns:a16="http://schemas.microsoft.com/office/drawing/2014/main" id="{D247E630-D585-77C4-68C3-AF17B8023934}"/>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348" name="Google Shape;348;p27">
            <a:extLst>
              <a:ext uri="{FF2B5EF4-FFF2-40B4-BE49-F238E27FC236}">
                <a16:creationId xmlns:a16="http://schemas.microsoft.com/office/drawing/2014/main" id="{CC7D6AB7-06D5-038C-0C55-8C4A9C71AC56}"/>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349" name="Google Shape;349;p27">
            <a:extLst>
              <a:ext uri="{FF2B5EF4-FFF2-40B4-BE49-F238E27FC236}">
                <a16:creationId xmlns:a16="http://schemas.microsoft.com/office/drawing/2014/main" id="{587B60DC-060B-2099-E83E-ED35CEAC3308}"/>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350" name="Google Shape;350;p27">
            <a:extLst>
              <a:ext uri="{FF2B5EF4-FFF2-40B4-BE49-F238E27FC236}">
                <a16:creationId xmlns:a16="http://schemas.microsoft.com/office/drawing/2014/main" id="{1603C432-3467-B3C0-B342-9B0F9402F5E5}"/>
              </a:ext>
            </a:extLst>
          </p:cNvPr>
          <p:cNvSpPr/>
          <p:nvPr/>
        </p:nvSpPr>
        <p:spPr>
          <a:xfrm>
            <a:off x="484536" y="1000321"/>
            <a:ext cx="14330172" cy="617887"/>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351" name="Google Shape;351;p27">
            <a:extLst>
              <a:ext uri="{FF2B5EF4-FFF2-40B4-BE49-F238E27FC236}">
                <a16:creationId xmlns:a16="http://schemas.microsoft.com/office/drawing/2014/main" id="{2225F174-4E2A-7179-C831-819BE6A73C7B}"/>
              </a:ext>
            </a:extLst>
          </p:cNvPr>
          <p:cNvSpPr/>
          <p:nvPr/>
        </p:nvSpPr>
        <p:spPr>
          <a:xfrm>
            <a:off x="475011" y="990796"/>
            <a:ext cx="14349222" cy="636937"/>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354" name="Google Shape;354;p27">
            <a:extLst>
              <a:ext uri="{FF2B5EF4-FFF2-40B4-BE49-F238E27FC236}">
                <a16:creationId xmlns:a16="http://schemas.microsoft.com/office/drawing/2014/main" id="{971CF117-701A-DB4B-4F0F-F58D3D944438}"/>
              </a:ext>
            </a:extLst>
          </p:cNvPr>
          <p:cNvSpPr txBox="1"/>
          <p:nvPr/>
        </p:nvSpPr>
        <p:spPr>
          <a:xfrm>
            <a:off x="672583" y="1014608"/>
            <a:ext cx="14349151" cy="617888"/>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Clr>
                <a:srgbClr val="FFFFFF"/>
              </a:buClr>
              <a:buSzPts val="2700"/>
              <a:buFont typeface="Century Gothic"/>
              <a:buNone/>
            </a:pPr>
            <a:r>
              <a:rPr lang="en-US" sz="2700" b="1" dirty="0">
                <a:solidFill>
                  <a:schemeClr val="tx1"/>
                </a:solidFill>
                <a:latin typeface="Century Gothic"/>
                <a:ea typeface="Calibri"/>
                <a:cs typeface="Calibri"/>
                <a:sym typeface="Century Gothic"/>
              </a:rPr>
              <a:t>OUTPUT </a:t>
            </a:r>
            <a:endParaRPr sz="1800" b="0" i="0" u="none" strike="noStrike" cap="none" dirty="0">
              <a:solidFill>
                <a:schemeClr val="tx1"/>
              </a:solidFill>
              <a:latin typeface="Calibri"/>
              <a:ea typeface="Calibri"/>
              <a:cs typeface="Calibri"/>
              <a:sym typeface="Calibri"/>
            </a:endParaRPr>
          </a:p>
        </p:txBody>
      </p:sp>
      <p:sp>
        <p:nvSpPr>
          <p:cNvPr id="355" name="Google Shape;355;p27">
            <a:extLst>
              <a:ext uri="{FF2B5EF4-FFF2-40B4-BE49-F238E27FC236}">
                <a16:creationId xmlns:a16="http://schemas.microsoft.com/office/drawing/2014/main" id="{B8EA9911-168F-E45F-65B9-28AADBCE0711}"/>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77" b="-388"/>
            </a:stretch>
          </a:blipFill>
          <a:ln>
            <a:noFill/>
          </a:ln>
        </p:spPr>
      </p:sp>
      <p:pic>
        <p:nvPicPr>
          <p:cNvPr id="3" name="Picture 2">
            <a:extLst>
              <a:ext uri="{FF2B5EF4-FFF2-40B4-BE49-F238E27FC236}">
                <a16:creationId xmlns:a16="http://schemas.microsoft.com/office/drawing/2014/main" id="{3C252357-4BFE-D4DB-A1F9-7433B3F0F8CD}"/>
              </a:ext>
            </a:extLst>
          </p:cNvPr>
          <p:cNvPicPr>
            <a:picLocks noChangeAspect="1"/>
          </p:cNvPicPr>
          <p:nvPr/>
        </p:nvPicPr>
        <p:blipFill>
          <a:blip r:embed="rId7"/>
          <a:stretch>
            <a:fillRect/>
          </a:stretch>
        </p:blipFill>
        <p:spPr>
          <a:xfrm>
            <a:off x="1695779" y="2337168"/>
            <a:ext cx="14409460" cy="6267438"/>
          </a:xfrm>
          <a:prstGeom prst="rect">
            <a:avLst/>
          </a:prstGeom>
        </p:spPr>
      </p:pic>
    </p:spTree>
    <p:extLst>
      <p:ext uri="{BB962C8B-B14F-4D97-AF65-F5344CB8AC3E}">
        <p14:creationId xmlns:p14="http://schemas.microsoft.com/office/powerpoint/2010/main" val="36844933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0"/>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06" name="Google Shape;406;p30"/>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07" name="Google Shape;407;p30"/>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08" name="Google Shape;408;p30"/>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09" name="Google Shape;409;p30"/>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0"/>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2" name="Rectangle 1">
            <a:extLst>
              <a:ext uri="{FF2B5EF4-FFF2-40B4-BE49-F238E27FC236}">
                <a16:creationId xmlns:a16="http://schemas.microsoft.com/office/drawing/2014/main" id="{90B67926-DE84-488C-A856-30466F171A09}"/>
              </a:ext>
            </a:extLst>
          </p:cNvPr>
          <p:cNvSpPr>
            <a:spLocks noChangeArrowheads="1"/>
          </p:cNvSpPr>
          <p:nvPr/>
        </p:nvSpPr>
        <p:spPr bwMode="auto">
          <a:xfrm>
            <a:off x="1508971" y="2070066"/>
            <a:ext cx="16779029" cy="6934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Open UiPath Studio and create a new workflow.</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Read the meeting notes from the text file.</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Log the start of the automation.</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Summarize the long meeting content using AI.</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Log that the summary is created.</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Detect the language of the summarized text.</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Translate the summary to the required language.</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Format the translated summary into an email body.</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Send the summary to recipients through Outlook.</a:t>
            </a:r>
          </a:p>
          <a:p>
            <a:pPr marL="514350" indent="-514350" algn="just">
              <a:lnSpc>
                <a:spcPct val="150000"/>
              </a:lnSpc>
              <a:buAutoNum type="arabicPeriod"/>
            </a:pPr>
            <a:r>
              <a:rPr lang="en-US" sz="3000" dirty="0">
                <a:latin typeface="Times New Roman" panose="02020603050405020304" pitchFamily="18" charset="0"/>
                <a:cs typeface="Times New Roman" panose="02020603050405020304" pitchFamily="18" charset="0"/>
              </a:rPr>
              <a:t>End the workflow and verify the email delivery.</a:t>
            </a:r>
          </a:p>
        </p:txBody>
      </p:sp>
      <p:sp>
        <p:nvSpPr>
          <p:cNvPr id="3" name="TextBox 2">
            <a:extLst>
              <a:ext uri="{FF2B5EF4-FFF2-40B4-BE49-F238E27FC236}">
                <a16:creationId xmlns:a16="http://schemas.microsoft.com/office/drawing/2014/main" id="{1FB13C49-1A84-3C5D-899D-2061FD395E93}"/>
              </a:ext>
            </a:extLst>
          </p:cNvPr>
          <p:cNvSpPr txBox="1"/>
          <p:nvPr/>
        </p:nvSpPr>
        <p:spPr>
          <a:xfrm>
            <a:off x="7410833" y="1047654"/>
            <a:ext cx="1733167" cy="523220"/>
          </a:xfrm>
          <a:prstGeom prst="rect">
            <a:avLst/>
          </a:prstGeom>
          <a:noFill/>
        </p:spPr>
        <p:txBody>
          <a:bodyPr wrap="none" rtlCol="0">
            <a:spAutoFit/>
          </a:bodyPr>
          <a:lstStyle/>
          <a:p>
            <a:r>
              <a:rPr lang="en-US" sz="2800" b="1" dirty="0">
                <a:latin typeface="Century Gothic" panose="020B0502020202020204" pitchFamily="34" charset="0"/>
                <a:cs typeface="Times New Roman" panose="02020603050405020304" pitchFamily="18" charset="0"/>
              </a:rPr>
              <a:t>PROCESS</a:t>
            </a:r>
            <a:endParaRPr lang="en-IN" sz="2800" b="1" dirty="0">
              <a:latin typeface="Century Gothic" panose="020B0502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A1D7B8F4-D5A4-5730-9161-2AEB0E8C31A9}"/>
            </a:ext>
          </a:extLst>
        </p:cNvPr>
        <p:cNvGrpSpPr/>
        <p:nvPr/>
      </p:nvGrpSpPr>
      <p:grpSpPr>
        <a:xfrm>
          <a:off x="0" y="0"/>
          <a:ext cx="0" cy="0"/>
          <a:chOff x="0" y="0"/>
          <a:chExt cx="0" cy="0"/>
        </a:xfrm>
      </p:grpSpPr>
      <p:sp>
        <p:nvSpPr>
          <p:cNvPr id="405" name="Google Shape;405;p30">
            <a:extLst>
              <a:ext uri="{FF2B5EF4-FFF2-40B4-BE49-F238E27FC236}">
                <a16:creationId xmlns:a16="http://schemas.microsoft.com/office/drawing/2014/main" id="{9949857E-7E42-F64A-4009-72DD5219901D}"/>
              </a:ext>
            </a:extLst>
          </p:cNvPr>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06" name="Google Shape;406;p30">
            <a:extLst>
              <a:ext uri="{FF2B5EF4-FFF2-40B4-BE49-F238E27FC236}">
                <a16:creationId xmlns:a16="http://schemas.microsoft.com/office/drawing/2014/main" id="{253CF7AD-58EF-DAB3-5E53-2645A8A4A881}"/>
              </a:ext>
            </a:extLst>
          </p:cNvPr>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07" name="Google Shape;407;p30">
            <a:extLst>
              <a:ext uri="{FF2B5EF4-FFF2-40B4-BE49-F238E27FC236}">
                <a16:creationId xmlns:a16="http://schemas.microsoft.com/office/drawing/2014/main" id="{FA422855-C96A-7401-C45A-5547A5750665}"/>
              </a:ext>
            </a:extLst>
          </p:cNvPr>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08" name="Google Shape;408;p30">
            <a:extLst>
              <a:ext uri="{FF2B5EF4-FFF2-40B4-BE49-F238E27FC236}">
                <a16:creationId xmlns:a16="http://schemas.microsoft.com/office/drawing/2014/main" id="{7B9683F1-47C6-E259-CD68-F91A47F59B96}"/>
              </a:ext>
            </a:extLst>
          </p:cNvPr>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09" name="Google Shape;409;p30">
            <a:extLst>
              <a:ext uri="{FF2B5EF4-FFF2-40B4-BE49-F238E27FC236}">
                <a16:creationId xmlns:a16="http://schemas.microsoft.com/office/drawing/2014/main" id="{27EBC1F5-AF34-CD7B-4DE8-AE3EEAE1447C}"/>
              </a:ext>
            </a:extLst>
          </p:cNvPr>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0" name="Google Shape;410;p30">
            <a:extLst>
              <a:ext uri="{FF2B5EF4-FFF2-40B4-BE49-F238E27FC236}">
                <a16:creationId xmlns:a16="http://schemas.microsoft.com/office/drawing/2014/main" id="{EC072F5A-D2C9-6458-EB4F-0CD501E57ACC}"/>
              </a:ext>
            </a:extLst>
          </p:cNvPr>
          <p:cNvGrpSpPr/>
          <p:nvPr/>
        </p:nvGrpSpPr>
        <p:grpSpPr>
          <a:xfrm>
            <a:off x="868891" y="1202259"/>
            <a:ext cx="13955297" cy="523033"/>
            <a:chOff x="0" y="0"/>
            <a:chExt cx="19132237" cy="849283"/>
          </a:xfrm>
        </p:grpSpPr>
        <p:sp>
          <p:nvSpPr>
            <p:cNvPr id="411" name="Google Shape;411;p30">
              <a:extLst>
                <a:ext uri="{FF2B5EF4-FFF2-40B4-BE49-F238E27FC236}">
                  <a16:creationId xmlns:a16="http://schemas.microsoft.com/office/drawing/2014/main" id="{F84312F9-53B6-2CED-34BF-4626580803B9}"/>
                </a:ext>
              </a:extLst>
            </p:cNvPr>
            <p:cNvSpPr/>
            <p:nvPr/>
          </p:nvSpPr>
          <p:spPr>
            <a:xfrm>
              <a:off x="0" y="0"/>
              <a:ext cx="19132237" cy="849283"/>
            </a:xfrm>
            <a:custGeom>
              <a:avLst/>
              <a:gdLst/>
              <a:ahLst/>
              <a:cxnLst/>
              <a:rect l="l" t="t" r="r" b="b"/>
              <a:pathLst>
                <a:path w="19132237" h="849283" extrusionOk="0">
                  <a:moveTo>
                    <a:pt x="0" y="0"/>
                  </a:moveTo>
                  <a:lnTo>
                    <a:pt x="19132237" y="0"/>
                  </a:lnTo>
                  <a:lnTo>
                    <a:pt x="19132237" y="849283"/>
                  </a:lnTo>
                  <a:lnTo>
                    <a:pt x="0" y="849283"/>
                  </a:lnTo>
                  <a:close/>
                </a:path>
              </a:pathLst>
            </a:custGeom>
            <a:solidFill>
              <a:srgbClr val="000000">
                <a:alpha val="0"/>
              </a:srgbClr>
            </a:solidFill>
            <a:ln>
              <a:noFill/>
            </a:ln>
          </p:spPr>
        </p:sp>
        <p:sp>
          <p:nvSpPr>
            <p:cNvPr id="412" name="Google Shape;412;p30">
              <a:extLst>
                <a:ext uri="{FF2B5EF4-FFF2-40B4-BE49-F238E27FC236}">
                  <a16:creationId xmlns:a16="http://schemas.microsoft.com/office/drawing/2014/main" id="{D076C8FA-73CA-A5A2-E9B3-543A89795BBB}"/>
                </a:ext>
              </a:extLst>
            </p:cNvPr>
            <p:cNvSpPr txBox="1"/>
            <p:nvPr/>
          </p:nvSpPr>
          <p:spPr>
            <a:xfrm>
              <a:off x="0" y="0"/>
              <a:ext cx="19132237" cy="486032"/>
            </a:xfrm>
            <a:prstGeom prst="rect">
              <a:avLst/>
            </a:prstGeom>
            <a:noFill/>
            <a:ln>
              <a:noFill/>
            </a:ln>
          </p:spPr>
          <p:txBody>
            <a:bodyPr spcFirstLastPara="1" wrap="square" lIns="0" tIns="0" rIns="0" bIns="0" anchor="ctr" anchorCtr="0">
              <a:noAutofit/>
            </a:bodyPr>
            <a:lstStyle/>
            <a:p>
              <a:pPr marL="0" marR="0" lvl="0" indent="0" algn="ctr" rtl="0">
                <a:lnSpc>
                  <a:spcPct val="120000"/>
                </a:lnSpc>
                <a:spcBef>
                  <a:spcPts val="0"/>
                </a:spcBef>
                <a:spcAft>
                  <a:spcPts val="0"/>
                </a:spcAft>
                <a:buNone/>
              </a:pPr>
              <a:r>
                <a:rPr lang="en-US" sz="2700" b="1" i="0" u="none" strike="noStrike" cap="none" dirty="0">
                  <a:solidFill>
                    <a:schemeClr val="tx1"/>
                  </a:solidFill>
                  <a:latin typeface="Century Gothic"/>
                  <a:ea typeface="Century Gothic"/>
                  <a:cs typeface="Century Gothic"/>
                  <a:sym typeface="Century Gothic"/>
                </a:rPr>
                <a:t>    CONCLUSION </a:t>
              </a:r>
              <a:endParaRPr lang="en-US" dirty="0">
                <a:solidFill>
                  <a:schemeClr val="tx1"/>
                </a:solidFill>
              </a:endParaRPr>
            </a:p>
          </p:txBody>
        </p:sp>
      </p:grpSp>
      <p:sp>
        <p:nvSpPr>
          <p:cNvPr id="413" name="Google Shape;413;p30">
            <a:extLst>
              <a:ext uri="{FF2B5EF4-FFF2-40B4-BE49-F238E27FC236}">
                <a16:creationId xmlns:a16="http://schemas.microsoft.com/office/drawing/2014/main" id="{14030F0B-9A41-A413-2246-7E8BD14C5D98}"/>
              </a:ext>
            </a:extLst>
          </p:cNvPr>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2" name="Rectangle 1">
            <a:extLst>
              <a:ext uri="{FF2B5EF4-FFF2-40B4-BE49-F238E27FC236}">
                <a16:creationId xmlns:a16="http://schemas.microsoft.com/office/drawing/2014/main" id="{F41B34A5-B315-1CBF-C994-F7C5675A13C9}"/>
              </a:ext>
            </a:extLst>
          </p:cNvPr>
          <p:cNvSpPr>
            <a:spLocks noChangeArrowheads="1"/>
          </p:cNvSpPr>
          <p:nvPr/>
        </p:nvSpPr>
        <p:spPr bwMode="auto">
          <a:xfrm>
            <a:off x="868891" y="2125546"/>
            <a:ext cx="16230599" cy="347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3000" dirty="0">
                <a:latin typeface="Times New Roman" panose="02020603050405020304" pitchFamily="18" charset="0"/>
                <a:cs typeface="Times New Roman" panose="02020603050405020304" pitchFamily="18" charset="0"/>
              </a:rPr>
              <a:t>The </a:t>
            </a:r>
            <a:r>
              <a:rPr lang="en-US" sz="3000" b="1" dirty="0">
                <a:latin typeface="Times New Roman" panose="02020603050405020304" pitchFamily="18" charset="0"/>
                <a:cs typeface="Times New Roman" panose="02020603050405020304" pitchFamily="18" charset="0"/>
              </a:rPr>
              <a:t>Meeting Summarizer Bot</a:t>
            </a:r>
            <a:r>
              <a:rPr lang="en-US" sz="3000" dirty="0">
                <a:latin typeface="Times New Roman" panose="02020603050405020304" pitchFamily="18" charset="0"/>
                <a:cs typeface="Times New Roman" panose="02020603050405020304" pitchFamily="18" charset="0"/>
              </a:rPr>
              <a:t> automates the entire process of reading, summarizing, detecting language, and translating meeting notes. It reduces manual work, improves accuracy, and ensures quick delivery of clear and readable summaries to all recipients. This automation enhances communication, saves time, and supports efficient decision-making across teams. It provides a reliable and consistent way to share meeting insights with everyone.</a:t>
            </a:r>
          </a:p>
        </p:txBody>
      </p:sp>
    </p:spTree>
    <p:extLst>
      <p:ext uri="{BB962C8B-B14F-4D97-AF65-F5344CB8AC3E}">
        <p14:creationId xmlns:p14="http://schemas.microsoft.com/office/powerpoint/2010/main" val="2324297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1"/>
          <p:cNvSpPr/>
          <p:nvPr/>
        </p:nvSpPr>
        <p:spPr>
          <a:xfrm>
            <a:off x="475011"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3">
              <a:alphaModFix/>
            </a:blip>
            <a:stretch>
              <a:fillRect/>
            </a:stretch>
          </a:blipFill>
          <a:ln>
            <a:noFill/>
          </a:ln>
        </p:spPr>
      </p:sp>
      <p:sp>
        <p:nvSpPr>
          <p:cNvPr id="426" name="Google Shape;426;p31"/>
          <p:cNvSpPr/>
          <p:nvPr/>
        </p:nvSpPr>
        <p:spPr>
          <a:xfrm>
            <a:off x="6383974"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4">
              <a:alphaModFix/>
            </a:blip>
            <a:stretch>
              <a:fillRect/>
            </a:stretch>
          </a:blipFill>
          <a:ln>
            <a:noFill/>
          </a:ln>
        </p:spPr>
      </p:sp>
      <p:sp>
        <p:nvSpPr>
          <p:cNvPr id="427" name="Google Shape;427;p31"/>
          <p:cNvSpPr/>
          <p:nvPr/>
        </p:nvSpPr>
        <p:spPr>
          <a:xfrm>
            <a:off x="12292938" y="612544"/>
            <a:ext cx="5616701" cy="87629"/>
          </a:xfrm>
          <a:custGeom>
            <a:avLst/>
            <a:gdLst/>
            <a:ahLst/>
            <a:cxnLst/>
            <a:rect l="l" t="t" r="r" b="b"/>
            <a:pathLst>
              <a:path w="5616701" h="87629" extrusionOk="0">
                <a:moveTo>
                  <a:pt x="0" y="0"/>
                </a:moveTo>
                <a:lnTo>
                  <a:pt x="5616701" y="0"/>
                </a:lnTo>
                <a:lnTo>
                  <a:pt x="5616701" y="87629"/>
                </a:lnTo>
                <a:lnTo>
                  <a:pt x="0" y="87629"/>
                </a:lnTo>
                <a:lnTo>
                  <a:pt x="0" y="0"/>
                </a:lnTo>
                <a:close/>
              </a:path>
            </a:pathLst>
          </a:custGeom>
          <a:blipFill rotWithShape="1">
            <a:blip r:embed="rId5">
              <a:alphaModFix/>
            </a:blip>
            <a:stretch>
              <a:fillRect/>
            </a:stretch>
          </a:blipFill>
          <a:ln>
            <a:noFill/>
          </a:ln>
        </p:spPr>
      </p:sp>
      <p:sp>
        <p:nvSpPr>
          <p:cNvPr id="428" name="Google Shape;428;p31"/>
          <p:cNvSpPr/>
          <p:nvPr/>
        </p:nvSpPr>
        <p:spPr>
          <a:xfrm>
            <a:off x="484536" y="1000321"/>
            <a:ext cx="14330173" cy="617886"/>
          </a:xfrm>
          <a:custGeom>
            <a:avLst/>
            <a:gdLst/>
            <a:ahLst/>
            <a:cxnLst/>
            <a:rect l="l" t="t" r="r" b="b"/>
            <a:pathLst>
              <a:path w="19106896" h="823849" extrusionOk="0">
                <a:moveTo>
                  <a:pt x="0" y="0"/>
                </a:moveTo>
                <a:lnTo>
                  <a:pt x="19106896" y="0"/>
                </a:lnTo>
                <a:lnTo>
                  <a:pt x="19106896" y="823849"/>
                </a:lnTo>
                <a:lnTo>
                  <a:pt x="0" y="823849"/>
                </a:lnTo>
                <a:close/>
              </a:path>
            </a:pathLst>
          </a:custGeom>
          <a:solidFill>
            <a:srgbClr val="0070C0"/>
          </a:solidFill>
          <a:ln>
            <a:noFill/>
          </a:ln>
        </p:spPr>
      </p:sp>
      <p:sp>
        <p:nvSpPr>
          <p:cNvPr id="429" name="Google Shape;429;p31"/>
          <p:cNvSpPr/>
          <p:nvPr/>
        </p:nvSpPr>
        <p:spPr>
          <a:xfrm>
            <a:off x="475011" y="990796"/>
            <a:ext cx="14349222" cy="636936"/>
          </a:xfrm>
          <a:custGeom>
            <a:avLst/>
            <a:gdLst/>
            <a:ahLst/>
            <a:cxnLst/>
            <a:rect l="l" t="t" r="r" b="b"/>
            <a:pathLst>
              <a:path w="19132296" h="849249" extrusionOk="0">
                <a:moveTo>
                  <a:pt x="12700" y="0"/>
                </a:moveTo>
                <a:lnTo>
                  <a:pt x="19119596" y="0"/>
                </a:lnTo>
                <a:cubicBezTo>
                  <a:pt x="19126581" y="0"/>
                  <a:pt x="19132296" y="5715"/>
                  <a:pt x="19132296" y="12700"/>
                </a:cubicBezTo>
                <a:lnTo>
                  <a:pt x="19132296" y="836549"/>
                </a:lnTo>
                <a:cubicBezTo>
                  <a:pt x="19132296" y="843534"/>
                  <a:pt x="19126581" y="849249"/>
                  <a:pt x="19119596" y="849249"/>
                </a:cubicBezTo>
                <a:lnTo>
                  <a:pt x="12700" y="849249"/>
                </a:lnTo>
                <a:cubicBezTo>
                  <a:pt x="5715" y="849249"/>
                  <a:pt x="0" y="843534"/>
                  <a:pt x="0" y="836549"/>
                </a:cubicBezTo>
                <a:lnTo>
                  <a:pt x="0" y="12700"/>
                </a:lnTo>
                <a:cubicBezTo>
                  <a:pt x="0" y="5715"/>
                  <a:pt x="5715" y="0"/>
                  <a:pt x="12700" y="0"/>
                </a:cubicBezTo>
                <a:moveTo>
                  <a:pt x="12700" y="25400"/>
                </a:moveTo>
                <a:lnTo>
                  <a:pt x="12700" y="12700"/>
                </a:lnTo>
                <a:lnTo>
                  <a:pt x="25400" y="12700"/>
                </a:lnTo>
                <a:lnTo>
                  <a:pt x="25400" y="836549"/>
                </a:lnTo>
                <a:lnTo>
                  <a:pt x="12700" y="836549"/>
                </a:lnTo>
                <a:lnTo>
                  <a:pt x="12700" y="823849"/>
                </a:lnTo>
                <a:lnTo>
                  <a:pt x="19119596" y="823849"/>
                </a:lnTo>
                <a:lnTo>
                  <a:pt x="19119596" y="836549"/>
                </a:lnTo>
                <a:lnTo>
                  <a:pt x="19106896" y="836549"/>
                </a:lnTo>
                <a:lnTo>
                  <a:pt x="19106896" y="12700"/>
                </a:lnTo>
                <a:lnTo>
                  <a:pt x="19119596" y="12700"/>
                </a:lnTo>
                <a:lnTo>
                  <a:pt x="19119596" y="25400"/>
                </a:lnTo>
                <a:lnTo>
                  <a:pt x="12700" y="25400"/>
                </a:lnTo>
                <a:close/>
              </a:path>
            </a:pathLst>
          </a:cu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31"/>
          <p:cNvGrpSpPr/>
          <p:nvPr/>
        </p:nvGrpSpPr>
        <p:grpSpPr>
          <a:xfrm>
            <a:off x="475011" y="947933"/>
            <a:ext cx="20310622" cy="754371"/>
            <a:chOff x="0" y="0"/>
            <a:chExt cx="27080829" cy="1005827"/>
          </a:xfrm>
        </p:grpSpPr>
        <p:sp>
          <p:nvSpPr>
            <p:cNvPr id="431" name="Google Shape;431;p31"/>
            <p:cNvSpPr/>
            <p:nvPr/>
          </p:nvSpPr>
          <p:spPr>
            <a:xfrm>
              <a:off x="0" y="0"/>
              <a:ext cx="19132237" cy="906433"/>
            </a:xfrm>
            <a:custGeom>
              <a:avLst/>
              <a:gdLst/>
              <a:ahLst/>
              <a:cxnLst/>
              <a:rect l="l" t="t" r="r" b="b"/>
              <a:pathLst>
                <a:path w="19132237" h="906433" extrusionOk="0">
                  <a:moveTo>
                    <a:pt x="0" y="0"/>
                  </a:moveTo>
                  <a:lnTo>
                    <a:pt x="19132237" y="0"/>
                  </a:lnTo>
                  <a:lnTo>
                    <a:pt x="19132237" y="906433"/>
                  </a:lnTo>
                  <a:lnTo>
                    <a:pt x="0" y="906433"/>
                  </a:lnTo>
                  <a:close/>
                </a:path>
              </a:pathLst>
            </a:custGeom>
            <a:solidFill>
              <a:srgbClr val="000000">
                <a:alpha val="0"/>
              </a:srgbClr>
            </a:solidFill>
            <a:ln>
              <a:noFill/>
            </a:ln>
          </p:spPr>
        </p:sp>
        <p:sp>
          <p:nvSpPr>
            <p:cNvPr id="432" name="Google Shape;432;p31"/>
            <p:cNvSpPr txBox="1"/>
            <p:nvPr/>
          </p:nvSpPr>
          <p:spPr>
            <a:xfrm>
              <a:off x="7948592" y="42244"/>
              <a:ext cx="19132237" cy="963583"/>
            </a:xfrm>
            <a:prstGeom prst="rect">
              <a:avLst/>
            </a:prstGeom>
            <a:noFill/>
            <a:ln>
              <a:noFill/>
            </a:ln>
          </p:spPr>
          <p:txBody>
            <a:bodyPr spcFirstLastPara="1" wrap="square" lIns="0" tIns="0" rIns="0" bIns="0" anchor="ctr" anchorCtr="0">
              <a:noAutofit/>
            </a:bodyPr>
            <a:lstStyle/>
            <a:p>
              <a:pPr marL="0" marR="0" lvl="0" indent="0" algn="l" rtl="0">
                <a:lnSpc>
                  <a:spcPct val="120000"/>
                </a:lnSpc>
                <a:spcBef>
                  <a:spcPts val="0"/>
                </a:spcBef>
                <a:spcAft>
                  <a:spcPts val="0"/>
                </a:spcAft>
                <a:buNone/>
              </a:pPr>
              <a:r>
                <a:rPr lang="en-US" sz="2700" b="1" i="0" u="none" strike="noStrike" cap="none" dirty="0">
                  <a:solidFill>
                    <a:srgbClr val="FFFFFF"/>
                  </a:solidFill>
                  <a:latin typeface="Calibri"/>
                  <a:ea typeface="Calibri"/>
                  <a:cs typeface="Calibri"/>
                  <a:sym typeface="Calibri"/>
                </a:rPr>
                <a:t>Thank You !</a:t>
              </a:r>
              <a:endParaRPr dirty="0"/>
            </a:p>
          </p:txBody>
        </p:sp>
      </p:grpSp>
      <p:sp>
        <p:nvSpPr>
          <p:cNvPr id="433" name="Google Shape;433;p31"/>
          <p:cNvSpPr/>
          <p:nvPr/>
        </p:nvSpPr>
        <p:spPr>
          <a:xfrm>
            <a:off x="15600404" y="836870"/>
            <a:ext cx="1818704" cy="1185863"/>
          </a:xfrm>
          <a:custGeom>
            <a:avLst/>
            <a:gdLst/>
            <a:ahLst/>
            <a:cxnLst/>
            <a:rect l="l" t="t" r="r" b="b"/>
            <a:pathLst>
              <a:path w="2424938" h="1581150" extrusionOk="0">
                <a:moveTo>
                  <a:pt x="0" y="0"/>
                </a:moveTo>
                <a:lnTo>
                  <a:pt x="2424938" y="0"/>
                </a:lnTo>
                <a:lnTo>
                  <a:pt x="2424938" y="1581150"/>
                </a:lnTo>
                <a:lnTo>
                  <a:pt x="0" y="1581150"/>
                </a:lnTo>
                <a:lnTo>
                  <a:pt x="0" y="0"/>
                </a:lnTo>
                <a:close/>
              </a:path>
            </a:pathLst>
          </a:custGeom>
          <a:blipFill rotWithShape="1">
            <a:blip r:embed="rId6">
              <a:alphaModFix/>
            </a:blip>
            <a:stretch>
              <a:fillRect t="-381" b="-383"/>
            </a:stretch>
          </a:blipFill>
          <a:ln>
            <a:noFill/>
          </a:ln>
        </p:spPr>
      </p:sp>
      <p:sp>
        <p:nvSpPr>
          <p:cNvPr id="434" name="Google Shape;434;p31" descr="Education Is The Most Powerful Weapon - Global School Networks"/>
          <p:cNvSpPr/>
          <p:nvPr/>
        </p:nvSpPr>
        <p:spPr>
          <a:xfrm>
            <a:off x="5480716" y="2177948"/>
            <a:ext cx="7326535" cy="3636264"/>
          </a:xfrm>
          <a:custGeom>
            <a:avLst/>
            <a:gdLst/>
            <a:ahLst/>
            <a:cxnLst/>
            <a:rect l="l" t="t" r="r" b="b"/>
            <a:pathLst>
              <a:path w="9768713" h="4848352" extrusionOk="0">
                <a:moveTo>
                  <a:pt x="0" y="0"/>
                </a:moveTo>
                <a:lnTo>
                  <a:pt x="9768713" y="0"/>
                </a:lnTo>
                <a:lnTo>
                  <a:pt x="9768713" y="4848352"/>
                </a:lnTo>
                <a:lnTo>
                  <a:pt x="0" y="4848352"/>
                </a:lnTo>
                <a:lnTo>
                  <a:pt x="0" y="0"/>
                </a:lnTo>
                <a:close/>
              </a:path>
            </a:pathLst>
          </a:custGeom>
          <a:blipFill rotWithShape="1">
            <a:blip r:embed="rId7">
              <a:alphaModFix/>
            </a:blip>
            <a:stretch>
              <a:fillRect/>
            </a:stretch>
          </a:blipFill>
          <a:ln>
            <a:noFill/>
          </a:ln>
        </p:spPr>
      </p:sp>
      <p:grpSp>
        <p:nvGrpSpPr>
          <p:cNvPr id="435" name="Google Shape;435;p31"/>
          <p:cNvGrpSpPr/>
          <p:nvPr/>
        </p:nvGrpSpPr>
        <p:grpSpPr>
          <a:xfrm>
            <a:off x="855456" y="5738794"/>
            <a:ext cx="16952360" cy="2956443"/>
            <a:chOff x="0" y="-304800"/>
            <a:chExt cx="22603147" cy="3941924"/>
          </a:xfrm>
        </p:grpSpPr>
        <p:sp>
          <p:nvSpPr>
            <p:cNvPr id="436" name="Google Shape;436;p31"/>
            <p:cNvSpPr/>
            <p:nvPr/>
          </p:nvSpPr>
          <p:spPr>
            <a:xfrm>
              <a:off x="0" y="0"/>
              <a:ext cx="22603147" cy="3637124"/>
            </a:xfrm>
            <a:custGeom>
              <a:avLst/>
              <a:gdLst/>
              <a:ahLst/>
              <a:cxnLst/>
              <a:rect l="l" t="t" r="r" b="b"/>
              <a:pathLst>
                <a:path w="22603147" h="3637124" extrusionOk="0">
                  <a:moveTo>
                    <a:pt x="0" y="0"/>
                  </a:moveTo>
                  <a:lnTo>
                    <a:pt x="22603147" y="0"/>
                  </a:lnTo>
                  <a:lnTo>
                    <a:pt x="22603147" y="3637124"/>
                  </a:lnTo>
                  <a:lnTo>
                    <a:pt x="0" y="3637124"/>
                  </a:lnTo>
                  <a:close/>
                </a:path>
              </a:pathLst>
            </a:custGeom>
            <a:solidFill>
              <a:srgbClr val="000000">
                <a:alpha val="0"/>
              </a:srgbClr>
            </a:solidFill>
            <a:ln>
              <a:noFill/>
            </a:ln>
          </p:spPr>
        </p:sp>
        <p:sp>
          <p:nvSpPr>
            <p:cNvPr id="437" name="Google Shape;437;p31"/>
            <p:cNvSpPr txBox="1"/>
            <p:nvPr/>
          </p:nvSpPr>
          <p:spPr>
            <a:xfrm>
              <a:off x="0" y="-304800"/>
              <a:ext cx="22603147" cy="3941924"/>
            </a:xfrm>
            <a:prstGeom prst="rect">
              <a:avLst/>
            </a:prstGeom>
            <a:noFill/>
            <a:ln>
              <a:noFill/>
            </a:ln>
          </p:spPr>
          <p:txBody>
            <a:bodyPr spcFirstLastPara="1" wrap="square" lIns="0" tIns="0" rIns="0" bIns="0" anchor="t" anchorCtr="0">
              <a:noAutofit/>
            </a:bodyPr>
            <a:lstStyle/>
            <a:p>
              <a:pPr marL="0" marR="0" lvl="0" indent="0" algn="ctr" rtl="0">
                <a:lnSpc>
                  <a:spcPct val="240000"/>
                </a:lnSpc>
                <a:spcBef>
                  <a:spcPts val="0"/>
                </a:spcBef>
                <a:spcAft>
                  <a:spcPts val="0"/>
                </a:spcAft>
                <a:buNone/>
              </a:pPr>
              <a:r>
                <a:rPr lang="en-US" sz="2700" b="1" i="0" u="none" strike="noStrike" cap="none">
                  <a:solidFill>
                    <a:srgbClr val="055FB4"/>
                  </a:solidFill>
                  <a:latin typeface="Century Gothic"/>
                  <a:ea typeface="Century Gothic"/>
                  <a:cs typeface="Century Gothic"/>
                  <a:sym typeface="Century Gothic"/>
                </a:rPr>
                <a:t>LEARNING never stops.</a:t>
              </a:r>
              <a:endParaRPr/>
            </a:p>
            <a:p>
              <a:pPr marL="0" marR="0" lvl="0" indent="0" algn="ctr" rtl="0">
                <a:lnSpc>
                  <a:spcPct val="240000"/>
                </a:lnSpc>
                <a:spcBef>
                  <a:spcPts val="0"/>
                </a:spcBef>
                <a:spcAft>
                  <a:spcPts val="0"/>
                </a:spcAft>
                <a:buNone/>
              </a:pPr>
              <a:r>
                <a:rPr lang="en-US" sz="2700" b="1" i="0" u="none" strike="noStrike" cap="none">
                  <a:solidFill>
                    <a:srgbClr val="FF9700"/>
                  </a:solidFill>
                  <a:latin typeface="Century Gothic"/>
                  <a:ea typeface="Century Gothic"/>
                  <a:cs typeface="Century Gothic"/>
                  <a:sym typeface="Century Gothic"/>
                </a:rPr>
                <a:t>Let's keep pushing the boundaries of ENGINEERING..</a:t>
              </a:r>
              <a:endParaRPr/>
            </a:p>
            <a:p>
              <a:pPr marL="0" marR="0" lvl="0" indent="0" algn="ctr" rtl="0">
                <a:lnSpc>
                  <a:spcPct val="240000"/>
                </a:lnSpc>
                <a:spcBef>
                  <a:spcPts val="0"/>
                </a:spcBef>
                <a:spcAft>
                  <a:spcPts val="0"/>
                </a:spcAft>
                <a:buNone/>
              </a:pPr>
              <a:r>
                <a:rPr lang="en-US" sz="2700" b="1" i="0" u="none" strike="noStrike" cap="none">
                  <a:solidFill>
                    <a:srgbClr val="7F7F7F"/>
                  </a:solidFill>
                  <a:latin typeface="Century Gothic"/>
                  <a:ea typeface="Century Gothic"/>
                  <a:cs typeface="Century Gothic"/>
                  <a:sym typeface="Century Gothic"/>
                </a:rPr>
                <a:t>Thank you for your ATTENTION…</a:t>
              </a:r>
              <a:endParaRPr/>
            </a:p>
          </p:txBody>
        </p:sp>
      </p:grpSp>
      <p:sp>
        <p:nvSpPr>
          <p:cNvPr id="438" name="Google Shape;438;p31"/>
          <p:cNvSpPr/>
          <p:nvPr/>
        </p:nvSpPr>
        <p:spPr>
          <a:xfrm>
            <a:off x="871786" y="9264898"/>
            <a:ext cx="2148364" cy="456438"/>
          </a:xfrm>
          <a:custGeom>
            <a:avLst/>
            <a:gdLst/>
            <a:ahLst/>
            <a:cxnLst/>
            <a:rect l="l" t="t" r="r" b="b"/>
            <a:pathLst>
              <a:path w="2864485" h="608584" extrusionOk="0">
                <a:moveTo>
                  <a:pt x="0" y="0"/>
                </a:moveTo>
                <a:lnTo>
                  <a:pt x="2864485" y="0"/>
                </a:lnTo>
                <a:lnTo>
                  <a:pt x="2864485" y="608584"/>
                </a:lnTo>
                <a:lnTo>
                  <a:pt x="0" y="608584"/>
                </a:lnTo>
                <a:lnTo>
                  <a:pt x="0" y="0"/>
                </a:lnTo>
                <a:close/>
              </a:path>
            </a:pathLst>
          </a:custGeom>
          <a:blipFill rotWithShape="1">
            <a:blip r:embed="rId8">
              <a:alphaModFix/>
            </a:blip>
            <a:stretch>
              <a:fillRect t="-302" b="-311"/>
            </a:stretch>
          </a:blipFill>
          <a:ln>
            <a:noFill/>
          </a:ln>
        </p:spPr>
      </p:sp>
      <p:grpSp>
        <p:nvGrpSpPr>
          <p:cNvPr id="439" name="Google Shape;439;p31"/>
          <p:cNvGrpSpPr/>
          <p:nvPr/>
        </p:nvGrpSpPr>
        <p:grpSpPr>
          <a:xfrm>
            <a:off x="2888274" y="9210872"/>
            <a:ext cx="1811073" cy="507831"/>
            <a:chOff x="0" y="0"/>
            <a:chExt cx="2414764" cy="677108"/>
          </a:xfrm>
        </p:grpSpPr>
        <p:sp>
          <p:nvSpPr>
            <p:cNvPr id="440" name="Google Shape;440;p31"/>
            <p:cNvSpPr/>
            <p:nvPr/>
          </p:nvSpPr>
          <p:spPr>
            <a:xfrm>
              <a:off x="0" y="0"/>
              <a:ext cx="2414764" cy="677108"/>
            </a:xfrm>
            <a:custGeom>
              <a:avLst/>
              <a:gdLst/>
              <a:ahLst/>
              <a:cxnLst/>
              <a:rect l="l" t="t" r="r" b="b"/>
              <a:pathLst>
                <a:path w="2414764" h="677108" extrusionOk="0">
                  <a:moveTo>
                    <a:pt x="0" y="0"/>
                  </a:moveTo>
                  <a:lnTo>
                    <a:pt x="2414764" y="0"/>
                  </a:lnTo>
                  <a:lnTo>
                    <a:pt x="2414764" y="677108"/>
                  </a:lnTo>
                  <a:lnTo>
                    <a:pt x="0" y="677108"/>
                  </a:lnTo>
                  <a:close/>
                </a:path>
              </a:pathLst>
            </a:custGeom>
            <a:solidFill>
              <a:srgbClr val="000000">
                <a:alpha val="0"/>
              </a:srgbClr>
            </a:solidFill>
            <a:ln>
              <a:noFill/>
            </a:ln>
          </p:spPr>
        </p:sp>
        <p:sp>
          <p:nvSpPr>
            <p:cNvPr id="441" name="Google Shape;441;p31"/>
            <p:cNvSpPr txBox="1"/>
            <p:nvPr/>
          </p:nvSpPr>
          <p:spPr>
            <a:xfrm>
              <a:off x="0" y="0"/>
              <a:ext cx="2414764" cy="677108"/>
            </a:xfrm>
            <a:prstGeom prst="rect">
              <a:avLst/>
            </a:prstGeom>
            <a:noFill/>
            <a:ln>
              <a:noFill/>
            </a:ln>
          </p:spPr>
          <p:txBody>
            <a:bodyPr spcFirstLastPara="1" wrap="square" lIns="0" tIns="0" rIns="0" bIns="0" anchor="t" anchorCtr="0">
              <a:noAutofit/>
            </a:bodyPr>
            <a:lstStyle/>
            <a:p>
              <a:pPr marL="0" marR="0" lvl="0" indent="0" algn="r" rtl="0">
                <a:lnSpc>
                  <a:spcPct val="119958"/>
                </a:lnSpc>
                <a:spcBef>
                  <a:spcPts val="0"/>
                </a:spcBef>
                <a:spcAft>
                  <a:spcPts val="0"/>
                </a:spcAft>
                <a:buNone/>
              </a:pPr>
              <a:r>
                <a:rPr lang="en-US" sz="2400" b="1" i="0" u="none" strike="noStrike" cap="none">
                  <a:solidFill>
                    <a:srgbClr val="055FB4"/>
                  </a:solidFill>
                  <a:latin typeface="Century Gothic"/>
                  <a:ea typeface="Century Gothic"/>
                  <a:cs typeface="Century Gothic"/>
                  <a:sym typeface="Century Gothic"/>
                </a:rPr>
                <a:t>/ksrct1994</a:t>
              </a:r>
              <a:endParaRPr/>
            </a:p>
          </p:txBody>
        </p:sp>
      </p:grpSp>
      <p:grpSp>
        <p:nvGrpSpPr>
          <p:cNvPr id="442" name="Google Shape;442;p31"/>
          <p:cNvGrpSpPr/>
          <p:nvPr/>
        </p:nvGrpSpPr>
        <p:grpSpPr>
          <a:xfrm>
            <a:off x="14981833" y="9210872"/>
            <a:ext cx="2633414" cy="507831"/>
            <a:chOff x="0" y="0"/>
            <a:chExt cx="3511219" cy="677108"/>
          </a:xfrm>
        </p:grpSpPr>
        <p:sp>
          <p:nvSpPr>
            <p:cNvPr id="443" name="Google Shape;443;p31"/>
            <p:cNvSpPr/>
            <p:nvPr/>
          </p:nvSpPr>
          <p:spPr>
            <a:xfrm>
              <a:off x="0" y="0"/>
              <a:ext cx="3511219" cy="677108"/>
            </a:xfrm>
            <a:custGeom>
              <a:avLst/>
              <a:gdLst/>
              <a:ahLst/>
              <a:cxnLst/>
              <a:rect l="l" t="t" r="r" b="b"/>
              <a:pathLst>
                <a:path w="3511219" h="677108" extrusionOk="0">
                  <a:moveTo>
                    <a:pt x="0" y="0"/>
                  </a:moveTo>
                  <a:lnTo>
                    <a:pt x="3511219" y="0"/>
                  </a:lnTo>
                  <a:lnTo>
                    <a:pt x="3511219" y="677108"/>
                  </a:lnTo>
                  <a:lnTo>
                    <a:pt x="0" y="677108"/>
                  </a:lnTo>
                  <a:close/>
                </a:path>
              </a:pathLst>
            </a:custGeom>
            <a:solidFill>
              <a:srgbClr val="000000">
                <a:alpha val="0"/>
              </a:srgbClr>
            </a:solidFill>
            <a:ln>
              <a:noFill/>
            </a:ln>
          </p:spPr>
        </p:sp>
        <p:sp>
          <p:nvSpPr>
            <p:cNvPr id="444" name="Google Shape;444;p31"/>
            <p:cNvSpPr txBox="1"/>
            <p:nvPr/>
          </p:nvSpPr>
          <p:spPr>
            <a:xfrm>
              <a:off x="0" y="0"/>
              <a:ext cx="3511219" cy="677108"/>
            </a:xfrm>
            <a:prstGeom prst="rect">
              <a:avLst/>
            </a:prstGeom>
            <a:noFill/>
            <a:ln>
              <a:noFill/>
            </a:ln>
          </p:spPr>
          <p:txBody>
            <a:bodyPr spcFirstLastPara="1" wrap="square" lIns="0" tIns="0" rIns="0" bIns="0" anchor="t" anchorCtr="0">
              <a:noAutofit/>
            </a:bodyPr>
            <a:lstStyle/>
            <a:p>
              <a:pPr marL="0" marR="0" lvl="0" indent="0" algn="r" rtl="0">
                <a:lnSpc>
                  <a:spcPct val="119958"/>
                </a:lnSpc>
                <a:spcBef>
                  <a:spcPts val="0"/>
                </a:spcBef>
                <a:spcAft>
                  <a:spcPts val="0"/>
                </a:spcAft>
                <a:buNone/>
              </a:pPr>
              <a:r>
                <a:rPr lang="en-US" sz="2400" b="1" i="0" u="none" strike="noStrike" cap="none">
                  <a:solidFill>
                    <a:srgbClr val="055FB4"/>
                  </a:solidFill>
                  <a:latin typeface="Century Gothic"/>
                  <a:ea typeface="Century Gothic"/>
                  <a:cs typeface="Century Gothic"/>
                  <a:sym typeface="Century Gothic"/>
                </a:rPr>
                <a:t>www.ksrct.ac.in</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805</Words>
  <Application>Microsoft Office PowerPoint</Application>
  <PresentationFormat>Custom</PresentationFormat>
  <Paragraphs>179</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Black</vt:lpstr>
      <vt:lpstr>Century Gothic</vt:lpstr>
      <vt:lpstr>Times New Roman</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Vasu K</dc:creator>
  <cp:lastModifiedBy>PRAVEEN S</cp:lastModifiedBy>
  <cp:revision>27</cp:revision>
  <dcterms:modified xsi:type="dcterms:W3CDTF">2025-12-11T18:03:23Z</dcterms:modified>
</cp:coreProperties>
</file>