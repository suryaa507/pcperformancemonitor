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61" r:id="rId5"/>
    <p:sldId id="262" r:id="rId6"/>
    <p:sldId id="275" r:id="rId7"/>
    <p:sldId id="266" r:id="rId8"/>
    <p:sldId id="277" r:id="rId9"/>
    <p:sldId id="278" r:id="rId10"/>
    <p:sldId id="270" r:id="rId11"/>
    <p:sldId id="279" r:id="rId12"/>
    <p:sldId id="273" r:id="rId13"/>
    <p:sldId id="276" r:id="rId14"/>
    <p:sldId id="274" r:id="rId15"/>
  </p:sldIdLst>
  <p:sldSz cx="18288000" cy="10287000"/>
  <p:notesSz cx="6858000" cy="9144000"/>
  <p:embeddedFontLst>
    <p:embeddedFont>
      <p:font typeface="Arial Black" panose="020B0A04020102020204" pitchFamily="34" charset="0"/>
      <p:bold r:id="rId17"/>
    </p:embeddedFont>
    <p:embeddedFont>
      <p:font typeface="Century Gothic" panose="020B0502020202020204" pitchFamily="3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E97E7A-DB88-4434-80DB-63AAA8F71D92}" v="1" dt="2025-08-19T06:12:24.392"/>
    <p1510:client id="{F2163547-7AD4-4014-B73A-E63D6D60332B}" v="37" dt="2025-08-19T05:59:25.0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850"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86" name="Google Shape;86;p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87" name="Google Shape;87;p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89" name="Google Shape;89;p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90" name="Google Shape;90;p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05" name="Google Shape;105;p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106" name="Google Shape;106;p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108" name="Google Shape;108;p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109" name="Google Shape;109;p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25" name="Google Shape;125;p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126" name="Google Shape;126;p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128" name="Google Shape;128;p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129" name="Google Shape;129;p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80" name="Google Shape;180;p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181" name="Google Shape;181;p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183" name="Google Shape;183;p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184" name="Google Shape;184;p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99" name="Google Shape;199;p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200" name="Google Shape;200;p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202" name="Google Shape;202;p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203" name="Google Shape;203;p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99" name="Google Shape;199;p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200" name="Google Shape;200;p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202" name="Google Shape;202;p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203" name="Google Shape;203;p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2013864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72" name="Google Shape;272;p1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273" name="Google Shape;273;p1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p1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275" name="Google Shape;275;p1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276" name="Google Shape;276;p1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a:extLst>
            <a:ext uri="{FF2B5EF4-FFF2-40B4-BE49-F238E27FC236}">
              <a16:creationId xmlns:a16="http://schemas.microsoft.com/office/drawing/2014/main" id="{9BF9C4AC-FBDB-C586-A43D-93EACC211628}"/>
            </a:ext>
          </a:extLst>
        </p:cNvPr>
        <p:cNvGrpSpPr/>
        <p:nvPr/>
      </p:nvGrpSpPr>
      <p:grpSpPr>
        <a:xfrm>
          <a:off x="0" y="0"/>
          <a:ext cx="0" cy="0"/>
          <a:chOff x="0" y="0"/>
          <a:chExt cx="0" cy="0"/>
        </a:xfrm>
      </p:grpSpPr>
      <p:sp>
        <p:nvSpPr>
          <p:cNvPr id="271" name="Google Shape;271;p11:notes">
            <a:extLst>
              <a:ext uri="{FF2B5EF4-FFF2-40B4-BE49-F238E27FC236}">
                <a16:creationId xmlns:a16="http://schemas.microsoft.com/office/drawing/2014/main" id="{D8CAF483-C16A-EEB9-EA13-6CA0D142C8DE}"/>
              </a:ext>
            </a:extLst>
          </p:cNvPr>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72" name="Google Shape;272;p11:notes">
            <a:extLst>
              <a:ext uri="{FF2B5EF4-FFF2-40B4-BE49-F238E27FC236}">
                <a16:creationId xmlns:a16="http://schemas.microsoft.com/office/drawing/2014/main" id="{45B6909D-6AB7-DAE1-E8A3-6DA72E7E45FA}"/>
              </a:ext>
            </a:extLst>
          </p:cNvPr>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273" name="Google Shape;273;p11:notes">
            <a:extLst>
              <a:ext uri="{FF2B5EF4-FFF2-40B4-BE49-F238E27FC236}">
                <a16:creationId xmlns:a16="http://schemas.microsoft.com/office/drawing/2014/main" id="{FD1233CA-15B1-2FDE-6C32-ADABD2BE5097}"/>
              </a:ext>
            </a:extLst>
          </p:cNvPr>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p11:notes">
            <a:extLst>
              <a:ext uri="{FF2B5EF4-FFF2-40B4-BE49-F238E27FC236}">
                <a16:creationId xmlns:a16="http://schemas.microsoft.com/office/drawing/2014/main" id="{CD4C003B-769A-FEF1-2937-2CCDB4CF81BF}"/>
              </a:ext>
            </a:extLst>
          </p:cNvPr>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275" name="Google Shape;275;p11:notes">
            <a:extLst>
              <a:ext uri="{FF2B5EF4-FFF2-40B4-BE49-F238E27FC236}">
                <a16:creationId xmlns:a16="http://schemas.microsoft.com/office/drawing/2014/main" id="{898D562D-A964-1A48-8FCF-467E230337FF}"/>
              </a:ext>
            </a:extLst>
          </p:cNvPr>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276" name="Google Shape;276;p11:notes">
            <a:extLst>
              <a:ext uri="{FF2B5EF4-FFF2-40B4-BE49-F238E27FC236}">
                <a16:creationId xmlns:a16="http://schemas.microsoft.com/office/drawing/2014/main" id="{67ED62C8-64AC-6777-C97D-2432050C88A5}"/>
              </a:ext>
            </a:extLst>
          </p:cNvPr>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130418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a:extLst>
            <a:ext uri="{FF2B5EF4-FFF2-40B4-BE49-F238E27FC236}">
              <a16:creationId xmlns:a16="http://schemas.microsoft.com/office/drawing/2014/main" id="{6997D3A6-D05F-E9DE-DD63-DC21D7287684}"/>
            </a:ext>
          </a:extLst>
        </p:cNvPr>
        <p:cNvGrpSpPr/>
        <p:nvPr/>
      </p:nvGrpSpPr>
      <p:grpSpPr>
        <a:xfrm>
          <a:off x="0" y="0"/>
          <a:ext cx="0" cy="0"/>
          <a:chOff x="0" y="0"/>
          <a:chExt cx="0" cy="0"/>
        </a:xfrm>
      </p:grpSpPr>
      <p:sp>
        <p:nvSpPr>
          <p:cNvPr id="340" name="Google Shape;340;p15:notes">
            <a:extLst>
              <a:ext uri="{FF2B5EF4-FFF2-40B4-BE49-F238E27FC236}">
                <a16:creationId xmlns:a16="http://schemas.microsoft.com/office/drawing/2014/main" id="{AE77001B-6292-E05E-5325-C1DCE7DA327D}"/>
              </a:ext>
            </a:extLst>
          </p:cNvPr>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341" name="Google Shape;341;p15:notes">
            <a:extLst>
              <a:ext uri="{FF2B5EF4-FFF2-40B4-BE49-F238E27FC236}">
                <a16:creationId xmlns:a16="http://schemas.microsoft.com/office/drawing/2014/main" id="{8DC8A12C-83E1-E37F-AC97-5CCF5799C9BF}"/>
              </a:ext>
            </a:extLst>
          </p:cNvPr>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342" name="Google Shape;342;p15:notes">
            <a:extLst>
              <a:ext uri="{FF2B5EF4-FFF2-40B4-BE49-F238E27FC236}">
                <a16:creationId xmlns:a16="http://schemas.microsoft.com/office/drawing/2014/main" id="{1D6EB6E2-B956-C252-9514-EF062FEDDB62}"/>
              </a:ext>
            </a:extLst>
          </p:cNvPr>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p15:notes">
            <a:extLst>
              <a:ext uri="{FF2B5EF4-FFF2-40B4-BE49-F238E27FC236}">
                <a16:creationId xmlns:a16="http://schemas.microsoft.com/office/drawing/2014/main" id="{33CD7582-C9FF-8721-5651-D047D4217857}"/>
              </a:ext>
            </a:extLst>
          </p:cNvPr>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344" name="Google Shape;344;p15:notes">
            <a:extLst>
              <a:ext uri="{FF2B5EF4-FFF2-40B4-BE49-F238E27FC236}">
                <a16:creationId xmlns:a16="http://schemas.microsoft.com/office/drawing/2014/main" id="{AFEE5B07-8EF7-4BCC-3716-4089C2D1F4FB}"/>
              </a:ext>
            </a:extLst>
          </p:cNvPr>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345" name="Google Shape;345;p15:notes">
            <a:extLst>
              <a:ext uri="{FF2B5EF4-FFF2-40B4-BE49-F238E27FC236}">
                <a16:creationId xmlns:a16="http://schemas.microsoft.com/office/drawing/2014/main" id="{69053878-6C27-469C-58AC-CBC3B7D2FD60}"/>
              </a:ext>
            </a:extLst>
          </p:cNvPr>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2184193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341" name="Google Shape;341;p1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342" name="Google Shape;342;p1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p1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344" name="Google Shape;344;p1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345" name="Google Shape;345;p1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a:extLst>
            <a:ext uri="{FF2B5EF4-FFF2-40B4-BE49-F238E27FC236}">
              <a16:creationId xmlns:a16="http://schemas.microsoft.com/office/drawing/2014/main" id="{1AA1FC06-8EDA-340B-15BC-2F0CD825A0F1}"/>
            </a:ext>
          </a:extLst>
        </p:cNvPr>
        <p:cNvGrpSpPr/>
        <p:nvPr/>
      </p:nvGrpSpPr>
      <p:grpSpPr>
        <a:xfrm>
          <a:off x="0" y="0"/>
          <a:ext cx="0" cy="0"/>
          <a:chOff x="0" y="0"/>
          <a:chExt cx="0" cy="0"/>
        </a:xfrm>
      </p:grpSpPr>
      <p:sp>
        <p:nvSpPr>
          <p:cNvPr id="340" name="Google Shape;340;p15:notes">
            <a:extLst>
              <a:ext uri="{FF2B5EF4-FFF2-40B4-BE49-F238E27FC236}">
                <a16:creationId xmlns:a16="http://schemas.microsoft.com/office/drawing/2014/main" id="{57DC9573-F221-C796-5A62-B95D10778A3C}"/>
              </a:ext>
            </a:extLst>
          </p:cNvPr>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341" name="Google Shape;341;p15:notes">
            <a:extLst>
              <a:ext uri="{FF2B5EF4-FFF2-40B4-BE49-F238E27FC236}">
                <a16:creationId xmlns:a16="http://schemas.microsoft.com/office/drawing/2014/main" id="{F5B652A2-433E-503A-403B-6A637751D7EE}"/>
              </a:ext>
            </a:extLst>
          </p:cNvPr>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342" name="Google Shape;342;p15:notes">
            <a:extLst>
              <a:ext uri="{FF2B5EF4-FFF2-40B4-BE49-F238E27FC236}">
                <a16:creationId xmlns:a16="http://schemas.microsoft.com/office/drawing/2014/main" id="{3C8A0C33-2FB9-A45C-1F18-9F162952159F}"/>
              </a:ext>
            </a:extLst>
          </p:cNvPr>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p15:notes">
            <a:extLst>
              <a:ext uri="{FF2B5EF4-FFF2-40B4-BE49-F238E27FC236}">
                <a16:creationId xmlns:a16="http://schemas.microsoft.com/office/drawing/2014/main" id="{FBB33A2B-7CEF-102A-527C-D7AFF641C93B}"/>
              </a:ext>
            </a:extLst>
          </p:cNvPr>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344" name="Google Shape;344;p15:notes">
            <a:extLst>
              <a:ext uri="{FF2B5EF4-FFF2-40B4-BE49-F238E27FC236}">
                <a16:creationId xmlns:a16="http://schemas.microsoft.com/office/drawing/2014/main" id="{BBEB625A-4747-C609-1FF6-1DEDC14DBAD1}"/>
              </a:ext>
            </a:extLst>
          </p:cNvPr>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345" name="Google Shape;345;p15:notes">
            <a:extLst>
              <a:ext uri="{FF2B5EF4-FFF2-40B4-BE49-F238E27FC236}">
                <a16:creationId xmlns:a16="http://schemas.microsoft.com/office/drawing/2014/main" id="{60BB5A4B-6680-D0D2-FF9B-882B5263B7A0}"/>
              </a:ext>
            </a:extLst>
          </p:cNvPr>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3944119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1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399" name="Google Shape;399;p1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400" name="Google Shape;400;p1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1" name="Google Shape;401;p1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402" name="Google Shape;402;p1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403" name="Google Shape;403;p1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a:extLst>
            <a:ext uri="{FF2B5EF4-FFF2-40B4-BE49-F238E27FC236}">
              <a16:creationId xmlns:a16="http://schemas.microsoft.com/office/drawing/2014/main" id="{72A7E173-23BE-1AA6-C8AB-B708839A39D4}"/>
            </a:ext>
          </a:extLst>
        </p:cNvPr>
        <p:cNvGrpSpPr/>
        <p:nvPr/>
      </p:nvGrpSpPr>
      <p:grpSpPr>
        <a:xfrm>
          <a:off x="0" y="0"/>
          <a:ext cx="0" cy="0"/>
          <a:chOff x="0" y="0"/>
          <a:chExt cx="0" cy="0"/>
        </a:xfrm>
      </p:grpSpPr>
      <p:sp>
        <p:nvSpPr>
          <p:cNvPr id="398" name="Google Shape;398;p18:notes">
            <a:extLst>
              <a:ext uri="{FF2B5EF4-FFF2-40B4-BE49-F238E27FC236}">
                <a16:creationId xmlns:a16="http://schemas.microsoft.com/office/drawing/2014/main" id="{B63006D1-A105-8C78-9F9C-A0D3E38E06FA}"/>
              </a:ext>
            </a:extLst>
          </p:cNvPr>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399" name="Google Shape;399;p18:notes">
            <a:extLst>
              <a:ext uri="{FF2B5EF4-FFF2-40B4-BE49-F238E27FC236}">
                <a16:creationId xmlns:a16="http://schemas.microsoft.com/office/drawing/2014/main" id="{844EB35C-62F7-5CAF-5E42-D03A04F53FCB}"/>
              </a:ext>
            </a:extLst>
          </p:cNvPr>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400" name="Google Shape;400;p18:notes">
            <a:extLst>
              <a:ext uri="{FF2B5EF4-FFF2-40B4-BE49-F238E27FC236}">
                <a16:creationId xmlns:a16="http://schemas.microsoft.com/office/drawing/2014/main" id="{B2F45F1C-A8E3-F175-7450-4F3F7D1213DB}"/>
              </a:ext>
            </a:extLst>
          </p:cNvPr>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1" name="Google Shape;401;p18:notes">
            <a:extLst>
              <a:ext uri="{FF2B5EF4-FFF2-40B4-BE49-F238E27FC236}">
                <a16:creationId xmlns:a16="http://schemas.microsoft.com/office/drawing/2014/main" id="{3284A972-E727-7FEB-2F73-F899CCFCA1DE}"/>
              </a:ext>
            </a:extLst>
          </p:cNvPr>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402" name="Google Shape;402;p18:notes">
            <a:extLst>
              <a:ext uri="{FF2B5EF4-FFF2-40B4-BE49-F238E27FC236}">
                <a16:creationId xmlns:a16="http://schemas.microsoft.com/office/drawing/2014/main" id="{5CAB5CE6-9612-AA12-6476-572D085E7831}"/>
              </a:ext>
            </a:extLst>
          </p:cNvPr>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403" name="Google Shape;403;p18:notes">
            <a:extLst>
              <a:ext uri="{FF2B5EF4-FFF2-40B4-BE49-F238E27FC236}">
                <a16:creationId xmlns:a16="http://schemas.microsoft.com/office/drawing/2014/main" id="{43816DEF-2153-B916-DA58-89BE55E54CD4}"/>
              </a:ext>
            </a:extLst>
          </p:cNvPr>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37249332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1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419" name="Google Shape;419;p1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420" name="Google Shape;420;p19: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1" name="Google Shape;421;p19: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422" name="Google Shape;422;p19: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423" name="Google Shape;423;p19: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8.jp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1" name="Shape 91"/>
        <p:cNvGrpSpPr/>
        <p:nvPr/>
      </p:nvGrpSpPr>
      <p:grpSpPr>
        <a:xfrm>
          <a:off x="0" y="0"/>
          <a:ext cx="0" cy="0"/>
          <a:chOff x="0" y="0"/>
          <a:chExt cx="0" cy="0"/>
        </a:xfrm>
      </p:grpSpPr>
      <p:sp>
        <p:nvSpPr>
          <p:cNvPr id="92" name="Google Shape;92;p13"/>
          <p:cNvSpPr/>
          <p:nvPr/>
        </p:nvSpPr>
        <p:spPr>
          <a:xfrm>
            <a:off x="475011"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3">
              <a:alphaModFix/>
            </a:blip>
            <a:stretch>
              <a:fillRect/>
            </a:stretch>
          </a:blipFill>
          <a:ln>
            <a:noFill/>
          </a:ln>
        </p:spPr>
      </p:sp>
      <p:sp>
        <p:nvSpPr>
          <p:cNvPr id="93" name="Google Shape;93;p13"/>
          <p:cNvSpPr/>
          <p:nvPr/>
        </p:nvSpPr>
        <p:spPr>
          <a:xfrm>
            <a:off x="6383974"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4">
              <a:alphaModFix/>
            </a:blip>
            <a:stretch>
              <a:fillRect/>
            </a:stretch>
          </a:blipFill>
          <a:ln>
            <a:noFill/>
          </a:ln>
        </p:spPr>
      </p:sp>
      <p:sp>
        <p:nvSpPr>
          <p:cNvPr id="94" name="Google Shape;94;p13"/>
          <p:cNvSpPr/>
          <p:nvPr/>
        </p:nvSpPr>
        <p:spPr>
          <a:xfrm>
            <a:off x="12292938"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5">
              <a:alphaModFix/>
            </a:blip>
            <a:stretch>
              <a:fillRect/>
            </a:stretch>
          </a:blipFill>
          <a:ln>
            <a:noFill/>
          </a:ln>
        </p:spPr>
      </p:sp>
      <p:sp>
        <p:nvSpPr>
          <p:cNvPr id="95" name="Google Shape;95;p13"/>
          <p:cNvSpPr/>
          <p:nvPr/>
        </p:nvSpPr>
        <p:spPr>
          <a:xfrm>
            <a:off x="12623222" y="888423"/>
            <a:ext cx="5276850" cy="3467100"/>
          </a:xfrm>
          <a:custGeom>
            <a:avLst/>
            <a:gdLst/>
            <a:ahLst/>
            <a:cxnLst/>
            <a:rect l="l" t="t" r="r" b="b"/>
            <a:pathLst>
              <a:path w="7035800" h="4622800" extrusionOk="0">
                <a:moveTo>
                  <a:pt x="0" y="0"/>
                </a:moveTo>
                <a:lnTo>
                  <a:pt x="7035800" y="0"/>
                </a:lnTo>
                <a:lnTo>
                  <a:pt x="7035800" y="4622800"/>
                </a:lnTo>
                <a:lnTo>
                  <a:pt x="0" y="4622800"/>
                </a:lnTo>
                <a:lnTo>
                  <a:pt x="0" y="0"/>
                </a:lnTo>
                <a:close/>
              </a:path>
            </a:pathLst>
          </a:custGeom>
          <a:blipFill rotWithShape="1">
            <a:blip r:embed="rId6">
              <a:alphaModFix/>
            </a:blip>
            <a:stretch>
              <a:fillRect/>
            </a:stretch>
          </a:blipFill>
          <a:ln>
            <a:noFill/>
          </a:ln>
        </p:spPr>
      </p:sp>
      <p:sp>
        <p:nvSpPr>
          <p:cNvPr id="96" name="Google Shape;96;p13"/>
          <p:cNvSpPr/>
          <p:nvPr/>
        </p:nvSpPr>
        <p:spPr>
          <a:xfrm>
            <a:off x="676808" y="5080635"/>
            <a:ext cx="17056799" cy="4469130"/>
          </a:xfrm>
          <a:custGeom>
            <a:avLst/>
            <a:gdLst/>
            <a:ahLst/>
            <a:cxnLst/>
            <a:rect l="l" t="t" r="r" b="b"/>
            <a:pathLst>
              <a:path w="17056799" h="4469130" extrusionOk="0">
                <a:moveTo>
                  <a:pt x="0" y="0"/>
                </a:moveTo>
                <a:lnTo>
                  <a:pt x="17056799" y="0"/>
                </a:lnTo>
                <a:lnTo>
                  <a:pt x="17056799" y="4469130"/>
                </a:lnTo>
                <a:lnTo>
                  <a:pt x="0" y="4469130"/>
                </a:lnTo>
                <a:lnTo>
                  <a:pt x="0" y="0"/>
                </a:lnTo>
                <a:close/>
              </a:path>
            </a:pathLst>
          </a:custGeom>
          <a:blipFill rotWithShape="1">
            <a:blip r:embed="rId7">
              <a:alphaModFix/>
            </a:blip>
            <a:stretch>
              <a:fillRect/>
            </a:stretch>
          </a:blipFill>
          <a:ln>
            <a:noFill/>
          </a:ln>
        </p:spPr>
      </p:sp>
      <p:sp>
        <p:nvSpPr>
          <p:cNvPr id="102" name="Google Shape;102;p13"/>
          <p:cNvSpPr txBox="1"/>
          <p:nvPr/>
        </p:nvSpPr>
        <p:spPr>
          <a:xfrm>
            <a:off x="2391673" y="7207696"/>
            <a:ext cx="14816990" cy="2589271"/>
          </a:xfrm>
          <a:prstGeom prst="rect">
            <a:avLst/>
          </a:prstGeom>
          <a:noFill/>
          <a:ln>
            <a:noFill/>
          </a:ln>
        </p:spPr>
        <p:txBody>
          <a:bodyPr spcFirstLastPara="1" wrap="square" lIns="0" tIns="0" rIns="0" bIns="0" anchor="t" anchorCtr="0">
            <a:noAutofit/>
          </a:bodyPr>
          <a:lstStyle/>
          <a:p>
            <a:r>
              <a:rPr lang="en-US" sz="2400" cap="none" dirty="0">
                <a:solidFill>
                  <a:schemeClr val="bg1"/>
                </a:solidFill>
                <a:latin typeface="Century Gothic" panose="020B0502020202020204" pitchFamily="34" charset="0"/>
              </a:rPr>
              <a:t>3rd year B.Tech Artificial Intelligence and Data Science</a:t>
            </a:r>
            <a:endParaRPr/>
          </a:p>
          <a:p>
            <a:r>
              <a:rPr lang="en-US" sz="2400" cap="none" dirty="0">
                <a:solidFill>
                  <a:schemeClr val="bg1"/>
                </a:solidFill>
                <a:latin typeface="Century Gothic" panose="020B0502020202020204" pitchFamily="34" charset="0"/>
              </a:rPr>
              <a:t>K.S.RANGASAMY COLLEGE OF TECHNOLOGY</a:t>
            </a:r>
            <a:endParaRPr/>
          </a:p>
          <a:p>
            <a:r>
              <a:rPr lang="en-US" sz="2400" cap="none" dirty="0">
                <a:solidFill>
                  <a:schemeClr val="bg1"/>
                </a:solidFill>
                <a:latin typeface="Century Gothic" panose="020B0502020202020204" pitchFamily="34" charset="0"/>
              </a:rPr>
              <a:t>(Autonomous)</a:t>
            </a:r>
            <a:endParaRPr/>
          </a:p>
          <a:p>
            <a:r>
              <a:rPr lang="en-US" sz="2400" cap="none" dirty="0">
                <a:solidFill>
                  <a:schemeClr val="bg1"/>
                </a:solidFill>
                <a:latin typeface="Century Gothic" panose="020B0502020202020204" pitchFamily="34" charset="0"/>
              </a:rPr>
              <a:t>Tiruchengode - 637 215, Namakkal Dt. Tamil Nadu</a:t>
            </a:r>
            <a:endParaRPr/>
          </a:p>
        </p:txBody>
      </p:sp>
      <p:sp>
        <p:nvSpPr>
          <p:cNvPr id="3" name="TextBox 2">
            <a:extLst>
              <a:ext uri="{FF2B5EF4-FFF2-40B4-BE49-F238E27FC236}">
                <ns3:creationId id="{90F47B03-DD9E-DC8B-4134-FF5AFB07A9FF}"/>
              </a:ext>
            </a:extLst>
          </p:cNvPr>
          <p:cNvSpPr txBox="1"/>
          <p:nvPr/>
        </p:nvSpPr>
        <p:spPr>
          <a:xfrm>
            <a:off x="958646" y="1328073"/>
            <a:ext cx="9144000" cy="584775"/>
          </a:xfrm>
          <a:prstGeom prst="rect">
            <a:avLst/>
          </a:prstGeom>
          <a:noFill/>
        </p:spPr>
        <p:txBody>
          <a:bodyPr wrap="square">
            <a:spAutoFit/>
          </a:bodyPr>
          <a:lstStyle/>
          <a:p>
            <a:r>
              <a:rPr lang="en-IN" sz="3200" b="1" dirty="0">
                <a:solidFill>
                  <a:srgbClr val="0070C0"/>
                </a:solidFill>
              </a:rPr>
              <a:t>PC Performance Monitor Bot Automation</a:t>
            </a:r>
            <a:endParaRPr/>
          </a:p>
        </p:txBody>
      </p:sp>
      <p:sp>
        <p:nvSpPr>
          <p:cNvPr id="5" name="TextBox 4">
            <a:extLst>
              <a:ext uri="{FF2B5EF4-FFF2-40B4-BE49-F238E27FC236}">
                <ns3:creationId id="{4176A4FB-FA79-D2E6-8D11-319035317A2C}"/>
              </a:ext>
            </a:extLst>
          </p:cNvPr>
          <p:cNvSpPr txBox="1"/>
          <p:nvPr/>
        </p:nvSpPr>
        <p:spPr>
          <a:xfrm>
            <a:off x="989126" y="3109115"/>
            <a:ext cx="9144000" cy="584775"/>
          </a:xfrm>
          <a:prstGeom prst="rect">
            <a:avLst/>
          </a:prstGeom>
          <a:noFill/>
        </p:spPr>
        <p:txBody>
          <a:bodyPr wrap="square">
            <a:spAutoFit/>
          </a:bodyPr>
          <a:lstStyle/>
          <a:p>
            <a:r>
              <a:rPr lang="en-US" sz="3200" b="1" dirty="0">
                <a:solidFill>
                  <a:schemeClr val="accent6"/>
                </a:solidFill>
              </a:rPr>
              <a:t>ROBOTIC PROCESS AUTOMATION</a:t>
            </a:r>
            <a:endParaRPr/>
          </a:p>
        </p:txBody>
      </p:sp>
      <p:sp>
        <p:nvSpPr>
          <p:cNvPr id="4" name="TextBox 3">
            <a:extLst>
              <a:ext uri="{FF2B5EF4-FFF2-40B4-BE49-F238E27FC236}">
                <ns3:creationId id="{006E601C-FC05-5582-3A0B-8AE41E478BFA}"/>
              </a:ext>
            </a:extLst>
          </p:cNvPr>
          <p:cNvSpPr txBox="1"/>
          <p:nvPr/>
        </p:nvSpPr>
        <p:spPr>
          <a:xfrm>
            <a:off x="958646" y="5282342"/>
            <a:ext cx="7728155" cy="523220"/>
          </a:xfrm>
          <a:prstGeom prst="rect">
            <a:avLst/>
          </a:prstGeom>
          <a:noFill/>
        </p:spPr>
        <p:txBody>
          <a:bodyPr wrap="square" rtlCol="0">
            <a:spAutoFit/>
          </a:bodyPr>
          <a:lstStyle/>
          <a:p>
            <a:r>
              <a:rPr lang="en-US" sz="2800" dirty="0">
                <a:solidFill>
                  <a:schemeClr val="bg1"/>
                </a:solidFill>
                <a:latin typeface="Arial Black" panose="020B0A04020102020204" pitchFamily="34" charset="0"/>
              </a:rPr>
              <a:t>ATHITYAA A</a:t>
            </a:r>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Shape 110"/>
        <p:cNvGrpSpPr/>
        <p:nvPr/>
      </p:nvGrpSpPr>
      <p:grpSpPr>
        <a:xfrm>
          <a:off x="0" y="0"/>
          <a:ext cx="0" cy="0"/>
          <a:chOff x="0" y="0"/>
          <a:chExt cx="0" cy="0"/>
        </a:xfrm>
      </p:grpSpPr>
      <p:sp>
        <p:nvSpPr>
          <p:cNvPr id="111" name="Google Shape;111;p14"/>
          <p:cNvSpPr/>
          <p:nvPr/>
        </p:nvSpPr>
        <p:spPr>
          <a:xfrm>
            <a:off x="475011"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3">
              <a:alphaModFix/>
            </a:blip>
            <a:stretch>
              <a:fillRect/>
            </a:stretch>
          </a:blipFill>
          <a:ln>
            <a:noFill/>
          </a:ln>
        </p:spPr>
      </p:sp>
      <p:sp>
        <p:nvSpPr>
          <p:cNvPr id="112" name="Google Shape;112;p14"/>
          <p:cNvSpPr/>
          <p:nvPr/>
        </p:nvSpPr>
        <p:spPr>
          <a:xfrm>
            <a:off x="6383974"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4">
              <a:alphaModFix/>
            </a:blip>
            <a:stretch>
              <a:fillRect/>
            </a:stretch>
          </a:blipFill>
          <a:ln>
            <a:noFill/>
          </a:ln>
        </p:spPr>
      </p:sp>
      <p:sp>
        <p:nvSpPr>
          <p:cNvPr id="113" name="Google Shape;113;p14"/>
          <p:cNvSpPr/>
          <p:nvPr/>
        </p:nvSpPr>
        <p:spPr>
          <a:xfrm>
            <a:off x="12292938"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5">
              <a:alphaModFix/>
            </a:blip>
            <a:stretch>
              <a:fillRect/>
            </a:stretch>
          </a:blipFill>
          <a:ln>
            <a:noFill/>
          </a:ln>
        </p:spPr>
      </p:sp>
      <p:sp>
        <p:nvSpPr>
          <p:cNvPr id="114" name="Google Shape;114;p14"/>
          <p:cNvSpPr/>
          <p:nvPr/>
        </p:nvSpPr>
        <p:spPr>
          <a:xfrm>
            <a:off x="484535" y="1120860"/>
            <a:ext cx="14330267" cy="617887"/>
          </a:xfrm>
          <a:custGeom>
            <a:avLst/>
            <a:gdLst/>
            <a:ahLst/>
            <a:cxnLst/>
            <a:rect l="l" t="t" r="r" b="b"/>
            <a:pathLst>
              <a:path w="19107023" h="823849" extrusionOk="0">
                <a:moveTo>
                  <a:pt x="0" y="0"/>
                </a:moveTo>
                <a:lnTo>
                  <a:pt x="19107023" y="0"/>
                </a:lnTo>
                <a:lnTo>
                  <a:pt x="19107023" y="823849"/>
                </a:lnTo>
                <a:lnTo>
                  <a:pt x="0" y="823849"/>
                </a:lnTo>
                <a:close/>
              </a:path>
            </a:pathLst>
          </a:custGeom>
          <a:solidFill>
            <a:srgbClr val="0070C0"/>
          </a:solidFill>
          <a:ln>
            <a:noFill/>
          </a:ln>
        </p:spPr>
      </p:sp>
      <p:sp>
        <p:nvSpPr>
          <p:cNvPr id="115" name="Google Shape;115;p14"/>
          <p:cNvSpPr/>
          <p:nvPr/>
        </p:nvSpPr>
        <p:spPr>
          <a:xfrm>
            <a:off x="475010" y="1111335"/>
            <a:ext cx="14349317" cy="636937"/>
          </a:xfrm>
          <a:custGeom>
            <a:avLst/>
            <a:gdLst/>
            <a:ahLst/>
            <a:cxnLst/>
            <a:rect l="l" t="t" r="r" b="b"/>
            <a:pathLst>
              <a:path w="19132423" h="849249" extrusionOk="0">
                <a:moveTo>
                  <a:pt x="12700" y="0"/>
                </a:moveTo>
                <a:lnTo>
                  <a:pt x="19119723" y="0"/>
                </a:lnTo>
                <a:cubicBezTo>
                  <a:pt x="19126708" y="0"/>
                  <a:pt x="19132423" y="5715"/>
                  <a:pt x="19132423" y="12700"/>
                </a:cubicBezTo>
                <a:lnTo>
                  <a:pt x="19132423" y="836549"/>
                </a:lnTo>
                <a:cubicBezTo>
                  <a:pt x="19132423" y="843534"/>
                  <a:pt x="19126708" y="849249"/>
                  <a:pt x="19119723"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723" y="823849"/>
                </a:lnTo>
                <a:lnTo>
                  <a:pt x="19119723" y="836549"/>
                </a:lnTo>
                <a:lnTo>
                  <a:pt x="19107023" y="836549"/>
                </a:lnTo>
                <a:lnTo>
                  <a:pt x="19107023" y="12700"/>
                </a:lnTo>
                <a:lnTo>
                  <a:pt x="19119723" y="12700"/>
                </a:lnTo>
                <a:lnTo>
                  <a:pt x="19119723"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grpSp>
        <p:nvGrpSpPr>
          <p:cNvPr id="116" name="Google Shape;116;p14"/>
          <p:cNvGrpSpPr/>
          <p:nvPr/>
        </p:nvGrpSpPr>
        <p:grpSpPr>
          <a:xfrm>
            <a:off x="475010" y="1111335"/>
            <a:ext cx="15511750" cy="636975"/>
            <a:chOff x="0" y="0"/>
            <a:chExt cx="19132500" cy="849300"/>
          </a:xfrm>
        </p:grpSpPr>
        <p:sp>
          <p:nvSpPr>
            <p:cNvPr id="117" name="Google Shape;117;p14"/>
            <p:cNvSpPr/>
            <p:nvPr/>
          </p:nvSpPr>
          <p:spPr>
            <a:xfrm>
              <a:off x="0" y="0"/>
              <a:ext cx="19132400" cy="849200"/>
            </a:xfrm>
            <a:custGeom>
              <a:avLst/>
              <a:gdLst/>
              <a:ahLst/>
              <a:cxnLst/>
              <a:rect l="l" t="t" r="r" b="b"/>
              <a:pathLst>
                <a:path w="19132400" h="849200" extrusionOk="0">
                  <a:moveTo>
                    <a:pt x="0" y="0"/>
                  </a:moveTo>
                  <a:lnTo>
                    <a:pt x="19132400" y="0"/>
                  </a:lnTo>
                  <a:lnTo>
                    <a:pt x="19132400" y="849200"/>
                  </a:lnTo>
                  <a:lnTo>
                    <a:pt x="0" y="849200"/>
                  </a:lnTo>
                  <a:close/>
                </a:path>
              </a:pathLst>
            </a:custGeom>
            <a:solidFill>
              <a:srgbClr val="000000">
                <a:alpha val="0"/>
              </a:srgbClr>
            </a:solidFill>
            <a:ln>
              <a:noFill/>
            </a:ln>
          </p:spPr>
        </p:sp>
        <p:sp>
          <p:nvSpPr>
            <p:cNvPr id="118" name="Google Shape;118;p14"/>
            <p:cNvSpPr txBox="1"/>
            <p:nvPr/>
          </p:nvSpPr>
          <p:spPr>
            <a:xfrm>
              <a:off x="0" y="0"/>
              <a:ext cx="19132500" cy="849300"/>
            </a:xfrm>
            <a:prstGeom prst="rect">
              <a:avLst/>
            </a:prstGeom>
            <a:noFill/>
            <a:ln>
              <a:noFill/>
            </a:ln>
          </p:spPr>
          <p:txBody>
            <a:bodyPr spcFirstLastPara="1" wrap="square" lIns="0" tIns="0" rIns="0" bIns="0" anchor="ctr" anchorCtr="0">
              <a:noAutofit/>
            </a:bodyPr>
            <a:lstStyle/>
            <a:p>
              <a:r>
                <a:rPr lang="en-US" sz="2700" b="1" i="0" u="none" strike="noStrike" cap="none" dirty="0">
                  <a:solidFill>
                    <a:schemeClr val="tx1"/>
                  </a:solidFill>
                  <a:latin typeface="Century Gothic"/>
                  <a:ea typeface="Century Gothic"/>
                  <a:cs typeface="Century Gothic"/>
                  <a:sym typeface="Century Gothic"/>
                </a:rPr>
                <a:t>INTRODUCTION</a:t>
              </a:r>
              <a:endParaRPr/>
            </a:p>
          </p:txBody>
        </p:sp>
      </p:grpSp>
      <p:sp>
        <p:nvSpPr>
          <p:cNvPr id="119" name="Google Shape;119;p14"/>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77" b="-388"/>
            </a:stretch>
          </a:blipFill>
          <a:ln>
            <a:noFill/>
          </a:ln>
        </p:spPr>
      </p:sp>
      <p:sp>
        <p:nvSpPr>
          <p:cNvPr id="120" name="Google Shape;120;p14"/>
          <p:cNvSpPr txBox="1"/>
          <p:nvPr/>
        </p:nvSpPr>
        <p:spPr>
          <a:xfrm>
            <a:off x="899652" y="2340522"/>
            <a:ext cx="16519456" cy="7109608"/>
          </a:xfrm>
          <a:prstGeom prst="rect">
            <a:avLst/>
          </a:prstGeom>
          <a:noFill/>
          <a:ln>
            <a:noFill/>
          </a:ln>
        </p:spPr>
        <p:txBody>
          <a:bodyPr spcFirstLastPara="1" wrap="square" lIns="91425" tIns="91425" rIns="91425" bIns="91425" anchor="t" anchorCtr="0">
            <a:spAutoFit/>
          </a:bodyPr>
          <a:lstStyle/>
          <a:p>
            <a:r>
              <a:rPr lang="en-US" sz="3000" dirty="0">
                <a:latin typeface="Times New Roman" panose="02020603050405020304" pitchFamily="18" charset="0"/>
                <a:cs typeface="Times New Roman" panose="02020603050405020304" pitchFamily="18" charset="0"/>
              </a:rPr>
              <a:t>Monitoring PC performance is important for understanding system health and application resource usage.</a:t>
            </a:r>
            <a:endParaRPr/>
          </a:p>
          <a:p>
            <a:r>
              <a:rPr lang="en-US" sz="3000" dirty="0">
                <a:latin typeface="Times New Roman" panose="02020603050405020304" pitchFamily="18" charset="0"/>
                <a:cs typeface="Times New Roman" panose="02020603050405020304" pitchFamily="18" charset="0"/>
              </a:rPr>
              <a:t>Manual checking through Task Manager is useful, but it does not provide a customized RPA dashboard or exportable report.</a:t>
            </a:r>
            <a:endParaRPr/>
          </a:p>
          <a:p>
            <a:r>
              <a:rPr lang="en-US" sz="3000" dirty="0">
                <a:latin typeface="Times New Roman" panose="02020603050405020304" pitchFamily="18" charset="0"/>
                <a:cs typeface="Times New Roman" panose="02020603050405020304" pitchFamily="18" charset="0"/>
              </a:rPr>
              <a:t>The PC Performance Monitor Bot automates system monitoring using UiPath and PowerShell.</a:t>
            </a:r>
            <a:endParaRPr/>
          </a:p>
          <a:p>
            <a:r>
              <a:rPr lang="en-US" sz="3000" dirty="0">
                <a:latin typeface="Times New Roman" panose="02020603050405020304" pitchFamily="18" charset="0"/>
                <a:cs typeface="Times New Roman" panose="02020603050405020304" pitchFamily="18" charset="0"/>
              </a:rPr>
              <a:t>It collects CPU, RAM, GPU, top CPU applications, top RAM applications, and GPU-using applications.</a:t>
            </a:r>
            <a:endParaRPr/>
          </a:p>
          <a:p>
            <a:r>
              <a:rPr lang="en-US" sz="3000" dirty="0">
                <a:latin typeface="Times New Roman" panose="02020603050405020304" pitchFamily="18" charset="0"/>
                <a:cs typeface="Times New Roman" panose="02020603050405020304" pitchFamily="18" charset="0"/>
              </a:rPr>
              <a:t>The collected values are written into performance.json and shown in a live HTML dashboard.</a:t>
            </a:r>
            <a:endParaRPr/>
          </a:p>
          <a:p>
            <a:r>
              <a:rPr lang="en-US" sz="3000" dirty="0">
                <a:latin typeface="Times New Roman" panose="02020603050405020304" pitchFamily="18" charset="0"/>
                <a:cs typeface="Times New Roman" panose="02020603050405020304" pitchFamily="18" charset="0"/>
              </a:rPr>
              <a:t>The dashboard refreshes automatically every few seconds and provides CSV and Excel export options.</a:t>
            </a:r>
            <a:endParaRPr/>
          </a:p>
        </p:txBody>
      </p:sp>
    </p:spTree>
  </p:cSld>
  <p:clrMapOvr>
    <a:masterClrMapping/>
  </p:clrMapOvr>
</p:sld>
</file>

<file path=ppt/slides/slide3.xml><?xml version="1.0" encoding="utf-8"?>
<p:sld xmlns:a="http://schemas.openxmlformats.org/drawingml/2006/main" xmlns:ns3="http://schemas.microsoft.com/office/drawing/2014/main" xmlns:ns4="http://schemas.microsoft.com/office/drawing/2010/main" xmlns:p="http://schemas.openxmlformats.org/presentationml/2006/main" xmlns:r="http://schemas.openxmlformats.org/officeDocument/2006/relationships">
  <p:cSld>
    <p:spTree>
      <p:nvGrpSpPr>
        <p:cNvPr id="1" name="Shape 130"/>
        <p:cNvGrpSpPr/>
        <p:nvPr/>
      </p:nvGrpSpPr>
      <p:grpSpPr>
        <a:xfrm>
          <a:off x="0" y="0"/>
          <a:ext cx="0" cy="0"/>
          <a:chOff x="0" y="0"/>
          <a:chExt cx="0" cy="0"/>
        </a:xfrm>
      </p:grpSpPr>
      <p:sp>
        <p:nvSpPr>
          <p:cNvPr id="131" name="Google Shape;131;p15"/>
          <p:cNvSpPr/>
          <p:nvPr/>
        </p:nvSpPr>
        <p:spPr>
          <a:xfrm>
            <a:off x="475011"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3">
              <a:alphaModFix/>
            </a:blip>
            <a:stretch>
              <a:fillRect/>
            </a:stretch>
          </a:blipFill>
          <a:ln>
            <a:noFill/>
          </a:ln>
        </p:spPr>
      </p:sp>
      <p:sp>
        <p:nvSpPr>
          <p:cNvPr id="132" name="Google Shape;132;p15"/>
          <p:cNvSpPr/>
          <p:nvPr/>
        </p:nvSpPr>
        <p:spPr>
          <a:xfrm>
            <a:off x="6383974"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4">
              <a:alphaModFix/>
            </a:blip>
            <a:stretch>
              <a:fillRect/>
            </a:stretch>
          </a:blipFill>
          <a:ln>
            <a:noFill/>
          </a:ln>
        </p:spPr>
      </p:sp>
      <p:sp>
        <p:nvSpPr>
          <p:cNvPr id="133" name="Google Shape;133;p15"/>
          <p:cNvSpPr/>
          <p:nvPr/>
        </p:nvSpPr>
        <p:spPr>
          <a:xfrm>
            <a:off x="12292938"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5">
              <a:alphaModFix/>
            </a:blip>
            <a:stretch>
              <a:fillRect/>
            </a:stretch>
          </a:blipFill>
          <a:ln>
            <a:noFill/>
          </a:ln>
        </p:spPr>
      </p:sp>
      <p:sp>
        <p:nvSpPr>
          <p:cNvPr id="134" name="Google Shape;134;p15"/>
          <p:cNvSpPr/>
          <p:nvPr/>
        </p:nvSpPr>
        <p:spPr>
          <a:xfrm>
            <a:off x="475011" y="981087"/>
            <a:ext cx="14155389" cy="668679"/>
          </a:xfrm>
          <a:custGeom>
            <a:avLst/>
            <a:gdLst/>
            <a:ahLst/>
            <a:cxnLst/>
            <a:rect l="l" t="t" r="r" b="b"/>
            <a:pathLst>
              <a:path w="14349317" h="636937" extrusionOk="0">
                <a:moveTo>
                  <a:pt x="0" y="0"/>
                </a:moveTo>
                <a:lnTo>
                  <a:pt x="14349317" y="0"/>
                </a:lnTo>
                <a:lnTo>
                  <a:pt x="14349317" y="636937"/>
                </a:lnTo>
                <a:lnTo>
                  <a:pt x="0" y="636937"/>
                </a:lnTo>
                <a:lnTo>
                  <a:pt x="0" y="0"/>
                </a:lnTo>
                <a:close/>
              </a:path>
            </a:pathLst>
          </a:custGeom>
          <a:blipFill rotWithShape="1">
            <a:blip r:embed="rId6">
              <a:alphaModFix/>
            </a:blip>
            <a:stretch>
              <a:fillRect/>
            </a:stretch>
          </a:blipFill>
          <a:ln>
            <a:noFill/>
          </a:ln>
        </p:spPr>
      </p:sp>
      <p:sp>
        <p:nvSpPr>
          <p:cNvPr id="135" name="Google Shape;135;p15"/>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7">
              <a:alphaModFix/>
            </a:blip>
            <a:stretch>
              <a:fillRect t="-377" b="-388"/>
            </a:stretch>
          </a:blipFill>
          <a:ln>
            <a:noFill/>
          </a:ln>
        </p:spPr>
      </p:sp>
      <p:grpSp>
        <p:nvGrpSpPr>
          <p:cNvPr id="136" name="Google Shape;136;p15"/>
          <p:cNvGrpSpPr/>
          <p:nvPr/>
        </p:nvGrpSpPr>
        <p:grpSpPr>
          <a:xfrm>
            <a:off x="1439482" y="1054297"/>
            <a:ext cx="12947078" cy="751007"/>
            <a:chOff x="-1087830" y="-1447387"/>
            <a:chExt cx="20194830" cy="2519313"/>
          </a:xfrm>
        </p:grpSpPr>
        <p:sp>
          <p:nvSpPr>
            <p:cNvPr id="137" name="Google Shape;137;p15"/>
            <p:cNvSpPr/>
            <p:nvPr/>
          </p:nvSpPr>
          <p:spPr>
            <a:xfrm>
              <a:off x="0" y="276176"/>
              <a:ext cx="19107000" cy="795750"/>
            </a:xfrm>
            <a:custGeom>
              <a:avLst/>
              <a:gdLst/>
              <a:ahLst/>
              <a:cxnLst/>
              <a:rect l="l" t="t" r="r" b="b"/>
              <a:pathLst>
                <a:path w="19107000" h="795750" extrusionOk="0">
                  <a:moveTo>
                    <a:pt x="0" y="0"/>
                  </a:moveTo>
                  <a:lnTo>
                    <a:pt x="19107000" y="0"/>
                  </a:lnTo>
                  <a:lnTo>
                    <a:pt x="19107000" y="795750"/>
                  </a:lnTo>
                  <a:lnTo>
                    <a:pt x="0" y="795750"/>
                  </a:lnTo>
                  <a:close/>
                </a:path>
              </a:pathLst>
            </a:custGeom>
            <a:solidFill>
              <a:srgbClr val="000000">
                <a:alpha val="0"/>
              </a:srgbClr>
            </a:solidFill>
            <a:ln>
              <a:noFill/>
            </a:ln>
          </p:spPr>
        </p:sp>
        <p:sp>
          <p:nvSpPr>
            <p:cNvPr id="138" name="Google Shape;138;p15"/>
            <p:cNvSpPr txBox="1"/>
            <p:nvPr/>
          </p:nvSpPr>
          <p:spPr>
            <a:xfrm>
              <a:off x="-1087830" y="-1447387"/>
              <a:ext cx="19107002" cy="1723563"/>
            </a:xfrm>
            <a:prstGeom prst="rect">
              <a:avLst/>
            </a:prstGeom>
            <a:noFill/>
            <a:ln>
              <a:noFill/>
            </a:ln>
          </p:spPr>
          <p:txBody>
            <a:bodyPr spcFirstLastPara="1" wrap="square" lIns="0" tIns="0" rIns="0" bIns="0" anchor="t" anchorCtr="0">
              <a:noAutofit/>
            </a:bodyPr>
            <a:lstStyle/>
            <a:p>
              <a:r>
                <a:rPr lang="en-US" sz="2700" b="1" i="0" u="none" strike="noStrike" cap="none" dirty="0">
                  <a:solidFill>
                    <a:schemeClr val="tx1"/>
                  </a:solidFill>
                  <a:latin typeface="Century Gothic" panose="020B0502020202020204" pitchFamily="34" charset="0"/>
                  <a:ea typeface="Calibri"/>
                  <a:cs typeface="Calibri"/>
                  <a:sym typeface="Calibri"/>
                </a:rPr>
                <a:t>ABSTRACT</a:t>
              </a:r>
              <a:endParaRPr/>
            </a:p>
          </p:txBody>
        </p:sp>
      </p:grpSp>
      <p:sp>
        <p:nvSpPr>
          <p:cNvPr id="6" name="Rectangle 5">
            <a:extLst>
              <a:ext uri="{FF2B5EF4-FFF2-40B4-BE49-F238E27FC236}">
                <ns3:creationId id="{A0AB1F6C-A9FD-F30D-D1DA-284642653913}"/>
              </a:ext>
            </a:extLst>
          </p:cNvPr>
          <p:cNvSpPr>
            <a:spLocks noChangeArrowheads="1"/>
          </p:cNvSpPr>
          <p:nvPr/>
        </p:nvSpPr>
        <p:spPr bwMode="auto">
          <a:xfrm>
            <a:off x="1017639" y="1848757"/>
            <a:ext cx="15916730" cy="8319329"/>
          </a:xfrm>
          <a:prstGeom prst="rect">
            <a:avLst/>
          </a:prstGeom>
          <a:noFill/>
          <a:ln>
            <a:noFill/>
          </a:ln>
          <a:effectLst/>
          <a:extLst>
            <a:ext uri="{909E8E84-426E-40DD-AFC4-6F175D3DCCD1}">
              <ns4:hiddenFill>
                <a:solidFill>
                  <a:schemeClr val="accent1"/>
                </a:solidFill>
              </ns4:hiddenFill>
            </a:ext>
            <a:ext uri="{91240B29-F687-4F45-9708-019B960494DF}">
              <ns4:hiddenLine w="9525">
                <a:solidFill>
                  <a:schemeClr val="tx1"/>
                </a:solidFill>
                <a:miter lim="800000"/>
                <a:headEnd/>
                <a:tailEnd/>
              </ns4:hiddenLine>
            </a:ext>
            <a:ext uri="{AF507438-7753-43E0-B8FC-AC1667EBCBE1}">
              <ns4:hiddenEffects>
                <a:effectLst>
                  <a:outerShdw dist="35921" dir="2700000" algn="ctr" rotWithShape="0">
                    <a:schemeClr val="bg2"/>
                  </a:outerShdw>
                </a:effectLst>
              </ns4:hiddenEffects>
            </a:ext>
          </a:extLst>
        </p:spPr>
        <p:txBody>
          <a:bodyPr vert="horz" wrap="square" lIns="91440" tIns="45720" rIns="91440" bIns="45720" numCol="1" anchor="ctr" anchorCtr="0" compatLnSpc="1">
            <a:prstTxWarp prst="textNoShape">
              <a:avLst/>
            </a:prstTxWarp>
            <a:spAutoFit/>
          </a:bodyPr>
          <a:lstStyle/>
          <a:p>
            <a:r>
              <a:rPr lang="en-US" sz="3000" dirty="0">
                <a:latin typeface="Times New Roman" panose="02020603050405020304" pitchFamily="18" charset="0"/>
                <a:cs typeface="Times New Roman" panose="02020603050405020304" pitchFamily="18" charset="0"/>
              </a:rPr>
              <a:t>The PC Performance Monitor Bot is an RPA-based automation project that tracks live computer performance and displays the data in a browser dashboard.</a:t>
            </a:r>
            <a:endParaRPr/>
          </a:p>
          <a:p>
            <a:r>
              <a:rPr lang="en-US" sz="3000" dirty="0">
                <a:latin typeface="Times New Roman" panose="02020603050405020304" pitchFamily="18" charset="0"/>
                <a:cs typeface="Times New Roman" panose="02020603050405020304" pitchFamily="18" charset="0"/>
              </a:rPr>
              <a:t>UiPath runs the backend workflow and invokes PowerShell commands to read Windows performance counters.</a:t>
            </a:r>
            <a:endParaRPr/>
          </a:p>
          <a:p>
            <a:r>
              <a:rPr lang="en-US" sz="3000" dirty="0">
                <a:latin typeface="Times New Roman" panose="02020603050405020304" pitchFamily="18" charset="0"/>
                <a:cs typeface="Times New Roman" panose="02020603050405020304" pitchFamily="18" charset="0"/>
              </a:rPr>
              <a:t>The bot generates a JSON file containing CPU usage, RAM usage, GPU usage, and top application-level usage details.</a:t>
            </a:r>
            <a:endParaRPr/>
          </a:p>
          <a:p>
            <a:r>
              <a:rPr lang="en-US" sz="3000" dirty="0">
                <a:latin typeface="Times New Roman" panose="02020603050405020304" pitchFamily="18" charset="0"/>
                <a:cs typeface="Times New Roman" panose="02020603050405020304" pitchFamily="18" charset="0"/>
              </a:rPr>
              <a:t>The frontend dashboard, developed using HTML, CSS, and JavaScript, fetches the JSON file every three seconds.</a:t>
            </a:r>
            <a:endParaRPr/>
          </a:p>
          <a:p>
            <a:r>
              <a:rPr lang="en-US" sz="3000" dirty="0">
                <a:latin typeface="Times New Roman" panose="02020603050405020304" pitchFamily="18" charset="0"/>
                <a:cs typeface="Times New Roman" panose="02020603050405020304" pitchFamily="18" charset="0"/>
              </a:rPr>
              <a:t>The system provides a modern dark UI with progress bars, tables, debug logs, and export options for CSV and Excel.</a:t>
            </a:r>
            <a:endParaRPr/>
          </a:p>
          <a:p>
            <a:r>
              <a:rPr lang="en-US" sz="3000" dirty="0">
                <a:latin typeface="Times New Roman" panose="02020603050405020304" pitchFamily="18" charset="0"/>
                <a:cs typeface="Times New Roman" panose="02020603050405020304" pitchFamily="18" charset="0"/>
              </a:rPr>
              <a:t>This project demonstrates a simple and practical method of connecting UiPath automation with a real-time web dashboard.</a:t>
            </a:r>
            <a:endParaRPr/>
          </a:p>
        </p:txBody>
      </p:sp>
    </p:spTree>
  </p:cSld>
  <p:clrMapOvr>
    <a:masterClrMapping/>
  </p:clrMapOvr>
</p:sld>
</file>

<file path=ppt/slides/slide4.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1" name="Shape 185"/>
        <p:cNvGrpSpPr/>
        <p:nvPr/>
      </p:nvGrpSpPr>
      <p:grpSpPr>
        <a:xfrm>
          <a:off x="0" y="0"/>
          <a:ext cx="0" cy="0"/>
          <a:chOff x="0" y="0"/>
          <a:chExt cx="0" cy="0"/>
        </a:xfrm>
      </p:grpSpPr>
      <p:sp>
        <p:nvSpPr>
          <p:cNvPr id="186" name="Google Shape;186;p18"/>
          <p:cNvSpPr/>
          <p:nvPr/>
        </p:nvSpPr>
        <p:spPr>
          <a:xfrm>
            <a:off x="475011"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3">
              <a:alphaModFix/>
            </a:blip>
            <a:stretch>
              <a:fillRect/>
            </a:stretch>
          </a:blipFill>
          <a:ln>
            <a:noFill/>
          </a:ln>
        </p:spPr>
      </p:sp>
      <p:sp>
        <p:nvSpPr>
          <p:cNvPr id="187" name="Google Shape;187;p18"/>
          <p:cNvSpPr/>
          <p:nvPr/>
        </p:nvSpPr>
        <p:spPr>
          <a:xfrm>
            <a:off x="6383974"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4">
              <a:alphaModFix/>
            </a:blip>
            <a:stretch>
              <a:fillRect/>
            </a:stretch>
          </a:blipFill>
          <a:ln>
            <a:noFill/>
          </a:ln>
        </p:spPr>
      </p:sp>
      <p:sp>
        <p:nvSpPr>
          <p:cNvPr id="188" name="Google Shape;188;p18"/>
          <p:cNvSpPr/>
          <p:nvPr/>
        </p:nvSpPr>
        <p:spPr>
          <a:xfrm>
            <a:off x="12292938"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5">
              <a:alphaModFix/>
            </a:blip>
            <a:stretch>
              <a:fillRect/>
            </a:stretch>
          </a:blipFill>
          <a:ln>
            <a:noFill/>
          </a:ln>
        </p:spPr>
      </p:sp>
      <p:sp>
        <p:nvSpPr>
          <p:cNvPr id="189" name="Google Shape;189;p18"/>
          <p:cNvSpPr/>
          <p:nvPr/>
        </p:nvSpPr>
        <p:spPr>
          <a:xfrm>
            <a:off x="475011" y="990796"/>
            <a:ext cx="14349317" cy="636937"/>
          </a:xfrm>
          <a:custGeom>
            <a:avLst/>
            <a:gdLst/>
            <a:ahLst/>
            <a:cxnLst/>
            <a:rect l="l" t="t" r="r" b="b"/>
            <a:pathLst>
              <a:path w="14349317" h="636937" extrusionOk="0">
                <a:moveTo>
                  <a:pt x="0" y="0"/>
                </a:moveTo>
                <a:lnTo>
                  <a:pt x="14349317" y="0"/>
                </a:lnTo>
                <a:lnTo>
                  <a:pt x="14349317" y="636937"/>
                </a:lnTo>
                <a:lnTo>
                  <a:pt x="0" y="636937"/>
                </a:lnTo>
                <a:lnTo>
                  <a:pt x="0" y="0"/>
                </a:lnTo>
                <a:close/>
              </a:path>
            </a:pathLst>
          </a:custGeom>
          <a:blipFill rotWithShape="1">
            <a:blip r:embed="rId6">
              <a:alphaModFix/>
            </a:blip>
            <a:stretch>
              <a:fillRect/>
            </a:stretch>
          </a:blipFill>
          <a:ln>
            <a:noFill/>
          </a:ln>
        </p:spPr>
      </p:sp>
      <p:sp>
        <p:nvSpPr>
          <p:cNvPr id="190" name="Google Shape;190;p18"/>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7">
              <a:alphaModFix/>
            </a:blip>
            <a:stretch>
              <a:fillRect t="-381" b="-383"/>
            </a:stretch>
          </a:blipFill>
          <a:ln>
            <a:noFill/>
          </a:ln>
        </p:spPr>
      </p:sp>
      <p:sp>
        <p:nvSpPr>
          <p:cNvPr id="193" name="Google Shape;193;p18"/>
          <p:cNvSpPr txBox="1"/>
          <p:nvPr/>
        </p:nvSpPr>
        <p:spPr>
          <a:xfrm>
            <a:off x="646459" y="1065302"/>
            <a:ext cx="14330250" cy="467426"/>
          </a:xfrm>
          <a:prstGeom prst="rect">
            <a:avLst/>
          </a:prstGeom>
          <a:noFill/>
          <a:ln>
            <a:noFill/>
          </a:ln>
        </p:spPr>
        <p:txBody>
          <a:bodyPr spcFirstLastPara="1" wrap="square" lIns="0" tIns="0" rIns="0" bIns="0" anchor="t" anchorCtr="0">
            <a:noAutofit/>
          </a:bodyPr>
          <a:lstStyle/>
          <a:p>
            <a:r>
              <a:rPr lang="en-US" sz="2700" b="1" i="0" u="none" strike="noStrike" cap="none" dirty="0">
                <a:solidFill>
                  <a:schemeClr val="tx1"/>
                </a:solidFill>
                <a:latin typeface="Century Gothic" panose="020B0502020202020204" pitchFamily="34" charset="0"/>
                <a:ea typeface="Calibri"/>
                <a:cs typeface="Calibri"/>
                <a:sym typeface="Calibri"/>
              </a:rPr>
              <a:t>KEY FEATURES AND BENEFITS</a:t>
            </a:r>
            <a:endParaRPr/>
          </a:p>
        </p:txBody>
      </p:sp>
      <p:sp>
        <p:nvSpPr>
          <p:cNvPr id="3" name="TextBox 2">
            <a:extLst>
              <a:ext uri="{FF2B5EF4-FFF2-40B4-BE49-F238E27FC236}">
                <ns3:creationId id="{EAF720FA-52DB-9B51-53E5-4692999C95C6}"/>
              </a:ext>
            </a:extLst>
          </p:cNvPr>
          <p:cNvSpPr txBox="1"/>
          <p:nvPr/>
        </p:nvSpPr>
        <p:spPr>
          <a:xfrm>
            <a:off x="1037755" y="2022733"/>
            <a:ext cx="16212490" cy="7626831"/>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Key Features</a:t>
            </a:r>
            <a:endParaRPr/>
          </a:p>
          <a:p>
            <a:r>
              <a:rPr lang="en-US" sz="3000" b="1" dirty="0">
                <a:latin typeface="Times New Roman" panose="02020603050405020304" pitchFamily="18" charset="0"/>
                <a:cs typeface="Times New Roman" panose="02020603050405020304" pitchFamily="18" charset="0"/>
              </a:rPr>
              <a:t>Monitors total CPU, RAM, and GPU usage in real time.</a:t>
            </a:r>
            <a:endParaRPr/>
          </a:p>
          <a:p>
            <a:r>
              <a:rPr lang="en-US" sz="3000" b="1" dirty="0">
                <a:latin typeface="Times New Roman" panose="02020603050405020304" pitchFamily="18" charset="0"/>
                <a:cs typeface="Times New Roman" panose="02020603050405020304" pitchFamily="18" charset="0"/>
              </a:rPr>
              <a:t>Displays top CPU-consuming and RAM-consuming applications.</a:t>
            </a:r>
            <a:endParaRPr/>
          </a:p>
          <a:p>
            <a:r>
              <a:rPr lang="en-US" sz="3000" b="1" dirty="0">
                <a:latin typeface="Times New Roman" panose="02020603050405020304" pitchFamily="18" charset="0"/>
                <a:cs typeface="Times New Roman" panose="02020603050405020304" pitchFamily="18" charset="0"/>
              </a:rPr>
              <a:t>Shows applications currently using GPU resources.</a:t>
            </a:r>
            <a:endParaRPr/>
          </a:p>
          <a:p>
            <a:r>
              <a:rPr lang="en-US" sz="3000" b="1" dirty="0">
                <a:latin typeface="Times New Roman" panose="02020603050405020304" pitchFamily="18" charset="0"/>
                <a:cs typeface="Times New Roman" panose="02020603050405020304" pitchFamily="18" charset="0"/>
              </a:rPr>
              <a:t>Uses JSON file communication between UiPath and the dashboard.</a:t>
            </a:r>
            <a:endParaRPr/>
          </a:p>
          <a:p>
            <a:r>
              <a:rPr lang="en-US" sz="3000" b="1" dirty="0">
                <a:latin typeface="Times New Roman" panose="02020603050405020304" pitchFamily="18" charset="0"/>
                <a:cs typeface="Times New Roman" panose="02020603050405020304" pitchFamily="18" charset="0"/>
              </a:rPr>
              <a:t>Refreshes automatically every three seconds.</a:t>
            </a:r>
            <a:endParaRPr/>
          </a:p>
          <a:p>
            <a:r>
              <a:rPr lang="en-US" sz="3000" b="1" dirty="0">
                <a:latin typeface="Times New Roman" panose="02020603050405020304" pitchFamily="18" charset="0"/>
                <a:cs typeface="Times New Roman" panose="02020603050405020304" pitchFamily="18" charset="0"/>
              </a:rPr>
              <a:t>Exports data to CSV and Excel-compatible files.</a:t>
            </a:r>
            <a:endParaRPr/>
          </a:p>
          <a:p>
            <a:r>
              <a:rPr lang="en-US" sz="3000" b="1" dirty="0">
                <a:latin typeface="Times New Roman" panose="02020603050405020304" pitchFamily="18" charset="0"/>
                <a:cs typeface="Times New Roman" panose="02020603050405020304" pitchFamily="18" charset="0"/>
              </a:rPr>
              <a:t/>
            </a:r>
            <a:endParaRPr/>
          </a:p>
          <a:p>
            <a:r>
              <a:rPr lang="en-US" sz="3000" b="1" dirty="0">
                <a:latin typeface="Times New Roman" panose="02020603050405020304" pitchFamily="18" charset="0"/>
                <a:cs typeface="Times New Roman" panose="02020603050405020304" pitchFamily="18" charset="0"/>
              </a:rPr>
              <a:t>Benefits</a:t>
            </a:r>
            <a:endParaRPr/>
          </a:p>
          <a:p>
            <a:r>
              <a:rPr lang="en-US" sz="3000" b="1" dirty="0">
                <a:latin typeface="Times New Roman" panose="02020603050405020304" pitchFamily="18" charset="0"/>
                <a:cs typeface="Times New Roman" panose="02020603050405020304" pitchFamily="18" charset="0"/>
              </a:rPr>
              <a:t>Reduces manual checking of Task Manager.</a:t>
            </a:r>
            <a:endParaRPr/>
          </a:p>
          <a:p>
            <a:r>
              <a:rPr lang="en-US" sz="3000" b="1" dirty="0">
                <a:latin typeface="Times New Roman" panose="02020603050405020304" pitchFamily="18" charset="0"/>
                <a:cs typeface="Times New Roman" panose="02020603050405020304" pitchFamily="18" charset="0"/>
              </a:rPr>
              <a:t>Provides a clear visual dashboard for system performance.</a:t>
            </a:r>
            <a:endParaRPr/>
          </a:p>
          <a:p>
            <a:r>
              <a:rPr lang="en-US" sz="3000" b="1" dirty="0">
                <a:latin typeface="Times New Roman" panose="02020603050405020304" pitchFamily="18" charset="0"/>
                <a:cs typeface="Times New Roman" panose="02020603050405020304" pitchFamily="18" charset="0"/>
              </a:rPr>
              <a:t>Helps identify resource-heavy applications quickly.</a:t>
            </a:r>
            <a:endParaRPr/>
          </a:p>
          <a:p>
            <a:r>
              <a:rPr lang="en-US" sz="3000" b="1" dirty="0">
                <a:latin typeface="Times New Roman" panose="02020603050405020304" pitchFamily="18" charset="0"/>
                <a:cs typeface="Times New Roman" panose="02020603050405020304" pitchFamily="18" charset="0"/>
              </a:rPr>
              <a:t>Uses a beginner-friendly architecture without a database.</a:t>
            </a:r>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Shape 204"/>
        <p:cNvGrpSpPr/>
        <p:nvPr/>
      </p:nvGrpSpPr>
      <p:grpSpPr>
        <a:xfrm>
          <a:off x="0" y="0"/>
          <a:ext cx="0" cy="0"/>
          <a:chOff x="0" y="0"/>
          <a:chExt cx="0" cy="0"/>
        </a:xfrm>
      </p:grpSpPr>
      <p:sp>
        <p:nvSpPr>
          <p:cNvPr id="205" name="Google Shape;205;p19"/>
          <p:cNvSpPr/>
          <p:nvPr/>
        </p:nvSpPr>
        <p:spPr>
          <a:xfrm>
            <a:off x="475011"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3">
              <a:alphaModFix/>
            </a:blip>
            <a:stretch>
              <a:fillRect/>
            </a:stretch>
          </a:blipFill>
          <a:ln>
            <a:noFill/>
          </a:ln>
        </p:spPr>
      </p:sp>
      <p:sp>
        <p:nvSpPr>
          <p:cNvPr id="206" name="Google Shape;206;p19"/>
          <p:cNvSpPr/>
          <p:nvPr/>
        </p:nvSpPr>
        <p:spPr>
          <a:xfrm>
            <a:off x="6383974"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4">
              <a:alphaModFix/>
            </a:blip>
            <a:stretch>
              <a:fillRect/>
            </a:stretch>
          </a:blipFill>
          <a:ln>
            <a:noFill/>
          </a:ln>
        </p:spPr>
      </p:sp>
      <p:sp>
        <p:nvSpPr>
          <p:cNvPr id="207" name="Google Shape;207;p19"/>
          <p:cNvSpPr/>
          <p:nvPr/>
        </p:nvSpPr>
        <p:spPr>
          <a:xfrm>
            <a:off x="12292938"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5">
              <a:alphaModFix/>
            </a:blip>
            <a:stretch>
              <a:fillRect/>
            </a:stretch>
          </a:blipFill>
          <a:ln>
            <a:noFill/>
          </a:ln>
        </p:spPr>
      </p:sp>
      <p:sp>
        <p:nvSpPr>
          <p:cNvPr id="208" name="Google Shape;208;p19"/>
          <p:cNvSpPr/>
          <p:nvPr/>
        </p:nvSpPr>
        <p:spPr>
          <a:xfrm>
            <a:off x="484536" y="1000321"/>
            <a:ext cx="14330267" cy="617887"/>
          </a:xfrm>
          <a:custGeom>
            <a:avLst/>
            <a:gdLst/>
            <a:ahLst/>
            <a:cxnLst/>
            <a:rect l="l" t="t" r="r" b="b"/>
            <a:pathLst>
              <a:path w="19107023" h="823849" extrusionOk="0">
                <a:moveTo>
                  <a:pt x="0" y="0"/>
                </a:moveTo>
                <a:lnTo>
                  <a:pt x="19107023" y="0"/>
                </a:lnTo>
                <a:lnTo>
                  <a:pt x="19107023" y="823849"/>
                </a:lnTo>
                <a:lnTo>
                  <a:pt x="0" y="823849"/>
                </a:lnTo>
                <a:close/>
              </a:path>
            </a:pathLst>
          </a:custGeom>
          <a:solidFill>
            <a:srgbClr val="0070C0"/>
          </a:solidFill>
          <a:ln>
            <a:noFill/>
          </a:ln>
        </p:spPr>
      </p:sp>
      <p:sp>
        <p:nvSpPr>
          <p:cNvPr id="209" name="Google Shape;209;p19"/>
          <p:cNvSpPr/>
          <p:nvPr/>
        </p:nvSpPr>
        <p:spPr>
          <a:xfrm>
            <a:off x="475011" y="990796"/>
            <a:ext cx="14349317" cy="636937"/>
          </a:xfrm>
          <a:custGeom>
            <a:avLst/>
            <a:gdLst/>
            <a:ahLst/>
            <a:cxnLst/>
            <a:rect l="l" t="t" r="r" b="b"/>
            <a:pathLst>
              <a:path w="19132423" h="849249" extrusionOk="0">
                <a:moveTo>
                  <a:pt x="12700" y="0"/>
                </a:moveTo>
                <a:lnTo>
                  <a:pt x="19119723" y="0"/>
                </a:lnTo>
                <a:cubicBezTo>
                  <a:pt x="19126708" y="0"/>
                  <a:pt x="19132423" y="5715"/>
                  <a:pt x="19132423" y="12700"/>
                </a:cubicBezTo>
                <a:lnTo>
                  <a:pt x="19132423" y="836549"/>
                </a:lnTo>
                <a:cubicBezTo>
                  <a:pt x="19132423" y="843534"/>
                  <a:pt x="19126708" y="849249"/>
                  <a:pt x="19119723"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723" y="823849"/>
                </a:lnTo>
                <a:lnTo>
                  <a:pt x="19119723" y="836549"/>
                </a:lnTo>
                <a:lnTo>
                  <a:pt x="19107023" y="836549"/>
                </a:lnTo>
                <a:lnTo>
                  <a:pt x="19107023" y="12700"/>
                </a:lnTo>
                <a:lnTo>
                  <a:pt x="19119723" y="12700"/>
                </a:lnTo>
                <a:lnTo>
                  <a:pt x="19119723"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211" name="Google Shape;211;p19"/>
          <p:cNvSpPr/>
          <p:nvPr/>
        </p:nvSpPr>
        <p:spPr>
          <a:xfrm>
            <a:off x="3451904" y="1047209"/>
            <a:ext cx="8553287" cy="482511"/>
          </a:xfrm>
          <a:custGeom>
            <a:avLst/>
            <a:gdLst/>
            <a:ahLst/>
            <a:cxnLst/>
            <a:rect l="l" t="t" r="r" b="b"/>
            <a:pathLst>
              <a:path w="19132400" h="906350" extrusionOk="0">
                <a:moveTo>
                  <a:pt x="0" y="0"/>
                </a:moveTo>
                <a:lnTo>
                  <a:pt x="19132400" y="0"/>
                </a:lnTo>
                <a:lnTo>
                  <a:pt x="19132400" y="906350"/>
                </a:lnTo>
                <a:lnTo>
                  <a:pt x="0" y="906350"/>
                </a:lnTo>
                <a:close/>
              </a:path>
            </a:pathLst>
          </a:custGeom>
          <a:solidFill>
            <a:srgbClr val="000000">
              <a:alpha val="0"/>
            </a:srgbClr>
          </a:solidFill>
          <a:ln>
            <a:noFill/>
          </a:ln>
        </p:spPr>
        <p:txBody>
          <a:bodyPr/>
          <a:lstStyle/>
          <a:p>
            <a:r>
              <a:rPr lang="en-US" sz="2700" b="1" dirty="0">
                <a:solidFill>
                  <a:schemeClr val="tx1"/>
                </a:solidFill>
                <a:latin typeface="Century Gothic" panose="020B0502020202020204" pitchFamily="34" charset="0"/>
              </a:rPr>
              <a:t>REAL WORLD APPLICATION AND USE CASES OF RPA</a:t>
            </a:r>
            <a:endParaRPr/>
          </a:p>
        </p:txBody>
      </p:sp>
      <p:sp>
        <p:nvSpPr>
          <p:cNvPr id="213" name="Google Shape;213;p19"/>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77" b="-388"/>
            </a:stretch>
          </a:blipFill>
          <a:ln>
            <a:noFill/>
          </a:ln>
        </p:spPr>
      </p:sp>
      <p:sp>
        <p:nvSpPr>
          <p:cNvPr id="214" name="Google Shape;214;p19"/>
          <p:cNvSpPr txBox="1"/>
          <p:nvPr/>
        </p:nvSpPr>
        <p:spPr>
          <a:xfrm>
            <a:off x="1069257" y="2370319"/>
            <a:ext cx="16149485" cy="6647943"/>
          </a:xfrm>
          <a:prstGeom prst="rect">
            <a:avLst/>
          </a:prstGeom>
          <a:noFill/>
          <a:ln>
            <a:noFill/>
          </a:ln>
        </p:spPr>
        <p:txBody>
          <a:bodyPr spcFirstLastPara="1" wrap="square" lIns="91425" tIns="91425" rIns="91425" bIns="91425" anchor="t" anchorCtr="0">
            <a:spAutoFit/>
          </a:bodyPr>
          <a:lstStyle/>
          <a:p>
            <a:r>
              <a:rPr lang="en-US" sz="3000" b="1" dirty="0">
                <a:latin typeface="Times New Roman" panose="02020603050405020304" pitchFamily="18" charset="0"/>
                <a:cs typeface="Times New Roman" panose="02020603050405020304" pitchFamily="18" charset="0"/>
              </a:rPr>
              <a:t>Student Lab Monitoring - Helps students observe how applications consume CPU, RAM, and GPU.</a:t>
            </a:r>
            <a:endParaRPr/>
          </a:p>
          <a:p>
            <a:r>
              <a:rPr lang="en-US" sz="3000" b="1" dirty="0">
                <a:latin typeface="Times New Roman" panose="02020603050405020304" pitchFamily="18" charset="0"/>
                <a:cs typeface="Times New Roman" panose="02020603050405020304" pitchFamily="18" charset="0"/>
              </a:rPr>
              <a:t>IT Support - Allows support teams to identify high-resource applications quickly.</a:t>
            </a:r>
            <a:endParaRPr/>
          </a:p>
          <a:p>
            <a:r>
              <a:rPr lang="en-US" sz="3000" b="1" dirty="0">
                <a:latin typeface="Times New Roman" panose="02020603050405020304" pitchFamily="18" charset="0"/>
                <a:cs typeface="Times New Roman" panose="02020603050405020304" pitchFamily="18" charset="0"/>
              </a:rPr>
              <a:t>Gaming and Graphics Systems - Shows GPU usage while games or rendering tools are running.</a:t>
            </a:r>
            <a:endParaRPr/>
          </a:p>
          <a:p>
            <a:r>
              <a:rPr lang="en-US" sz="3000" b="1" dirty="0">
                <a:latin typeface="Times New Roman" panose="02020603050405020304" pitchFamily="18" charset="0"/>
                <a:cs typeface="Times New Roman" panose="02020603050405020304" pitchFamily="18" charset="0"/>
              </a:rPr>
              <a:t>Automation Testing - Helps monitor system load while UiPath bots are executing.</a:t>
            </a:r>
            <a:endParaRPr/>
          </a:p>
          <a:p>
            <a:r>
              <a:rPr lang="en-US" sz="3000" b="1" dirty="0">
                <a:latin typeface="Times New Roman" panose="02020603050405020304" pitchFamily="18" charset="0"/>
                <a:cs typeface="Times New Roman" panose="02020603050405020304" pitchFamily="18" charset="0"/>
              </a:rPr>
              <a:t>Training and Demonstration - Explains how RPA collects operating system data for dashboards.</a:t>
            </a:r>
            <a:endParaRPr/>
          </a:p>
          <a:p>
            <a:r>
              <a:rPr lang="en-US" sz="3000" b="1" dirty="0">
                <a:latin typeface="Times New Roman" panose="02020603050405020304" pitchFamily="18" charset="0"/>
                <a:cs typeface="Times New Roman" panose="02020603050405020304" pitchFamily="18" charset="0"/>
              </a:rPr>
              <a:t>Small Office Monitoring - Provides a lightweight local dashboard without a full monitoring platform.</a:t>
            </a:r>
            <a:endParaRPr/>
          </a:p>
        </p:txBody>
      </p:sp>
    </p:spTree>
  </p:cSld>
  <p:clrMapOvr>
    <a:masterClrMapping/>
  </p:clrMapOvr>
</p:sld>
</file>

<file path=ppt/slides/slide6.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Shape 204"/>
        <p:cNvGrpSpPr/>
        <p:nvPr/>
      </p:nvGrpSpPr>
      <p:grpSpPr>
        <a:xfrm>
          <a:off x="0" y="0"/>
          <a:ext cx="0" cy="0"/>
          <a:chOff x="0" y="0"/>
          <a:chExt cx="0" cy="0"/>
        </a:xfrm>
      </p:grpSpPr>
      <p:sp>
        <p:nvSpPr>
          <p:cNvPr id="205" name="Google Shape;205;p19"/>
          <p:cNvSpPr/>
          <p:nvPr/>
        </p:nvSpPr>
        <p:spPr>
          <a:xfrm>
            <a:off x="475011"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3">
              <a:alphaModFix/>
            </a:blip>
            <a:stretch>
              <a:fillRect/>
            </a:stretch>
          </a:blipFill>
          <a:ln>
            <a:noFill/>
          </a:ln>
        </p:spPr>
      </p:sp>
      <p:sp>
        <p:nvSpPr>
          <p:cNvPr id="206" name="Google Shape;206;p19"/>
          <p:cNvSpPr/>
          <p:nvPr/>
        </p:nvSpPr>
        <p:spPr>
          <a:xfrm>
            <a:off x="6383974"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4">
              <a:alphaModFix/>
            </a:blip>
            <a:stretch>
              <a:fillRect/>
            </a:stretch>
          </a:blipFill>
          <a:ln>
            <a:noFill/>
          </a:ln>
        </p:spPr>
      </p:sp>
      <p:sp>
        <p:nvSpPr>
          <p:cNvPr id="207" name="Google Shape;207;p19"/>
          <p:cNvSpPr/>
          <p:nvPr/>
        </p:nvSpPr>
        <p:spPr>
          <a:xfrm>
            <a:off x="12292938"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5">
              <a:alphaModFix/>
            </a:blip>
            <a:stretch>
              <a:fillRect/>
            </a:stretch>
          </a:blipFill>
          <a:ln>
            <a:noFill/>
          </a:ln>
        </p:spPr>
      </p:sp>
      <p:sp>
        <p:nvSpPr>
          <p:cNvPr id="208" name="Google Shape;208;p19"/>
          <p:cNvSpPr/>
          <p:nvPr/>
        </p:nvSpPr>
        <p:spPr>
          <a:xfrm>
            <a:off x="484536" y="1000321"/>
            <a:ext cx="14330267" cy="617887"/>
          </a:xfrm>
          <a:custGeom>
            <a:avLst/>
            <a:gdLst/>
            <a:ahLst/>
            <a:cxnLst/>
            <a:rect l="l" t="t" r="r" b="b"/>
            <a:pathLst>
              <a:path w="19107023" h="823849" extrusionOk="0">
                <a:moveTo>
                  <a:pt x="0" y="0"/>
                </a:moveTo>
                <a:lnTo>
                  <a:pt x="19107023" y="0"/>
                </a:lnTo>
                <a:lnTo>
                  <a:pt x="19107023" y="823849"/>
                </a:lnTo>
                <a:lnTo>
                  <a:pt x="0" y="823849"/>
                </a:lnTo>
                <a:close/>
              </a:path>
            </a:pathLst>
          </a:custGeom>
          <a:solidFill>
            <a:srgbClr val="0070C0"/>
          </a:solidFill>
          <a:ln>
            <a:noFill/>
          </a:ln>
        </p:spPr>
      </p:sp>
      <p:sp>
        <p:nvSpPr>
          <p:cNvPr id="209" name="Google Shape;209;p19"/>
          <p:cNvSpPr/>
          <p:nvPr/>
        </p:nvSpPr>
        <p:spPr>
          <a:xfrm>
            <a:off x="475011" y="990796"/>
            <a:ext cx="14349317" cy="636937"/>
          </a:xfrm>
          <a:custGeom>
            <a:avLst/>
            <a:gdLst/>
            <a:ahLst/>
            <a:cxnLst/>
            <a:rect l="l" t="t" r="r" b="b"/>
            <a:pathLst>
              <a:path w="19132423" h="849249" extrusionOk="0">
                <a:moveTo>
                  <a:pt x="12700" y="0"/>
                </a:moveTo>
                <a:lnTo>
                  <a:pt x="19119723" y="0"/>
                </a:lnTo>
                <a:cubicBezTo>
                  <a:pt x="19126708" y="0"/>
                  <a:pt x="19132423" y="5715"/>
                  <a:pt x="19132423" y="12700"/>
                </a:cubicBezTo>
                <a:lnTo>
                  <a:pt x="19132423" y="836549"/>
                </a:lnTo>
                <a:cubicBezTo>
                  <a:pt x="19132423" y="843534"/>
                  <a:pt x="19126708" y="849249"/>
                  <a:pt x="19119723"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723" y="823849"/>
                </a:lnTo>
                <a:lnTo>
                  <a:pt x="19119723" y="836549"/>
                </a:lnTo>
                <a:lnTo>
                  <a:pt x="19107023" y="836549"/>
                </a:lnTo>
                <a:lnTo>
                  <a:pt x="19107023" y="12700"/>
                </a:lnTo>
                <a:lnTo>
                  <a:pt x="19119723" y="12700"/>
                </a:lnTo>
                <a:lnTo>
                  <a:pt x="19119723"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grpSp>
        <p:nvGrpSpPr>
          <p:cNvPr id="210" name="Google Shape;210;p19"/>
          <p:cNvGrpSpPr/>
          <p:nvPr/>
        </p:nvGrpSpPr>
        <p:grpSpPr>
          <a:xfrm>
            <a:off x="475011" y="905071"/>
            <a:ext cx="14349375" cy="722700"/>
            <a:chOff x="0" y="-57151"/>
            <a:chExt cx="19132500" cy="963600"/>
          </a:xfrm>
        </p:grpSpPr>
        <p:sp>
          <p:nvSpPr>
            <p:cNvPr id="211" name="Google Shape;211;p19"/>
            <p:cNvSpPr/>
            <p:nvPr/>
          </p:nvSpPr>
          <p:spPr>
            <a:xfrm>
              <a:off x="0" y="0"/>
              <a:ext cx="19132400" cy="906350"/>
            </a:xfrm>
            <a:custGeom>
              <a:avLst/>
              <a:gdLst/>
              <a:ahLst/>
              <a:cxnLst/>
              <a:rect l="l" t="t" r="r" b="b"/>
              <a:pathLst>
                <a:path w="19132400" h="906350" extrusionOk="0">
                  <a:moveTo>
                    <a:pt x="0" y="0"/>
                  </a:moveTo>
                  <a:lnTo>
                    <a:pt x="19132400" y="0"/>
                  </a:lnTo>
                  <a:lnTo>
                    <a:pt x="19132400" y="906350"/>
                  </a:lnTo>
                  <a:lnTo>
                    <a:pt x="0" y="906350"/>
                  </a:lnTo>
                  <a:close/>
                </a:path>
              </a:pathLst>
            </a:custGeom>
            <a:solidFill>
              <a:srgbClr val="000000">
                <a:alpha val="0"/>
              </a:srgbClr>
            </a:solidFill>
            <a:ln>
              <a:noFill/>
            </a:ln>
          </p:spPr>
        </p:sp>
        <p:sp>
          <p:nvSpPr>
            <p:cNvPr id="212" name="Google Shape;212;p19"/>
            <p:cNvSpPr txBox="1"/>
            <p:nvPr/>
          </p:nvSpPr>
          <p:spPr>
            <a:xfrm>
              <a:off x="0" y="-57151"/>
              <a:ext cx="19132500" cy="963600"/>
            </a:xfrm>
            <a:prstGeom prst="rect">
              <a:avLst/>
            </a:prstGeom>
            <a:noFill/>
            <a:ln>
              <a:noFill/>
            </a:ln>
          </p:spPr>
          <p:txBody>
            <a:bodyPr spcFirstLastPara="1" wrap="square" lIns="0" tIns="0" rIns="0" bIns="0" anchor="ctr" anchorCtr="0">
              <a:noAutofit/>
            </a:bodyPr>
            <a:lstStyle/>
            <a:p>
              <a:r>
                <a:rPr lang="en-US" sz="2700" b="1" i="0" u="none" strike="noStrike" cap="none" dirty="0">
                  <a:solidFill>
                    <a:schemeClr val="tx1"/>
                  </a:solidFill>
                  <a:latin typeface="Century Gothic" panose="020B0502020202020204" pitchFamily="34" charset="0"/>
                  <a:ea typeface="Calibri"/>
                  <a:cs typeface="Calibri"/>
                  <a:sym typeface="Calibri"/>
                </a:rPr>
                <a:t>TOOLS USED</a:t>
              </a:r>
              <a:endParaRPr/>
            </a:p>
          </p:txBody>
        </p:sp>
      </p:grpSp>
      <p:sp>
        <p:nvSpPr>
          <p:cNvPr id="213" name="Google Shape;213;p19"/>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77" b="-388"/>
            </a:stretch>
          </a:blipFill>
          <a:ln>
            <a:noFill/>
          </a:ln>
        </p:spPr>
      </p:sp>
      <p:sp>
        <p:nvSpPr>
          <p:cNvPr id="214" name="Google Shape;214;p19"/>
          <p:cNvSpPr txBox="1"/>
          <p:nvPr/>
        </p:nvSpPr>
        <p:spPr>
          <a:xfrm>
            <a:off x="958646" y="2432923"/>
            <a:ext cx="15662788" cy="6417111"/>
          </a:xfrm>
          <a:prstGeom prst="rect">
            <a:avLst/>
          </a:prstGeom>
          <a:noFill/>
          <a:ln>
            <a:noFill/>
          </a:ln>
        </p:spPr>
        <p:txBody>
          <a:bodyPr spcFirstLastPara="1" wrap="square" lIns="91425" tIns="91425" rIns="91425" bIns="91425" anchor="t" anchorCtr="0">
            <a:spAutoFit/>
          </a:bodyPr>
          <a:lstStyle/>
          <a:p>
            <a:r>
              <a:rPr lang="en-US" sz="3000" b="1" dirty="0">
                <a:solidFill>
                  <a:schemeClr val="dk1"/>
                </a:solidFill>
                <a:latin typeface="Times New Roman" panose="02020603050405020304" pitchFamily="18" charset="0"/>
                <a:ea typeface="Century Gothic"/>
                <a:cs typeface="Times New Roman" panose="02020603050405020304" pitchFamily="18" charset="0"/>
                <a:sym typeface="Century Gothic"/>
              </a:rPr>
              <a:t>UiPath Studio - Used to create and run the backend monitoring workflow.</a:t>
            </a:r>
            <a:endParaRPr/>
          </a:p>
          <a:p>
            <a:r>
              <a:rPr lang="en-US" sz="3000" b="1" dirty="0">
                <a:solidFill>
                  <a:schemeClr val="dk1"/>
                </a:solidFill>
                <a:latin typeface="Times New Roman" panose="02020603050405020304" pitchFamily="18" charset="0"/>
                <a:ea typeface="Century Gothic"/>
                <a:cs typeface="Times New Roman" panose="02020603050405020304" pitchFamily="18" charset="0"/>
                <a:sym typeface="Century Gothic"/>
              </a:rPr>
              <a:t>Invoke PowerShell Activity - Collects CPU, RAM, GPU, and process usage data.</a:t>
            </a:r>
            <a:endParaRPr/>
          </a:p>
          <a:p>
            <a:r>
              <a:rPr lang="en-US" sz="3000" b="1" dirty="0">
                <a:solidFill>
                  <a:schemeClr val="dk1"/>
                </a:solidFill>
                <a:latin typeface="Times New Roman" panose="02020603050405020304" pitchFamily="18" charset="0"/>
                <a:ea typeface="Century Gothic"/>
                <a:cs typeface="Times New Roman" panose="02020603050405020304" pitchFamily="18" charset="0"/>
                <a:sym typeface="Century Gothic"/>
              </a:rPr>
              <a:t>PowerShell - Reads Windows performance counters and generates JSON output.</a:t>
            </a:r>
            <a:endParaRPr/>
          </a:p>
          <a:p>
            <a:r>
              <a:rPr lang="en-US" sz="3000" b="1" dirty="0">
                <a:solidFill>
                  <a:schemeClr val="dk1"/>
                </a:solidFill>
                <a:latin typeface="Times New Roman" panose="02020603050405020304" pitchFamily="18" charset="0"/>
                <a:ea typeface="Century Gothic"/>
                <a:cs typeface="Times New Roman" panose="02020603050405020304" pitchFamily="18" charset="0"/>
                <a:sym typeface="Century Gothic"/>
              </a:rPr>
              <a:t>HTML - Builds the dashboard structure.</a:t>
            </a:r>
            <a:endParaRPr/>
          </a:p>
          <a:p>
            <a:r>
              <a:rPr lang="en-US" sz="3000" b="1" dirty="0">
                <a:solidFill>
                  <a:schemeClr val="dk1"/>
                </a:solidFill>
                <a:latin typeface="Times New Roman" panose="02020603050405020304" pitchFamily="18" charset="0"/>
                <a:ea typeface="Century Gothic"/>
                <a:cs typeface="Times New Roman" panose="02020603050405020304" pitchFamily="18" charset="0"/>
                <a:sym typeface="Century Gothic"/>
              </a:rPr>
              <a:t>CSS - Provides the dark UI, progress bars, and table styling.</a:t>
            </a:r>
            <a:endParaRPr/>
          </a:p>
          <a:p>
            <a:r>
              <a:rPr lang="en-US" sz="3000" b="1" dirty="0">
                <a:solidFill>
                  <a:schemeClr val="dk1"/>
                </a:solidFill>
                <a:latin typeface="Times New Roman" panose="02020603050405020304" pitchFamily="18" charset="0"/>
                <a:ea typeface="Century Gothic"/>
                <a:cs typeface="Times New Roman" panose="02020603050405020304" pitchFamily="18" charset="0"/>
                <a:sym typeface="Century Gothic"/>
              </a:rPr>
              <a:t>JavaScript - Fetches performance.json, updates the dashboard, and exports data.</a:t>
            </a:r>
            <a:endParaRPr/>
          </a:p>
          <a:p>
            <a:r>
              <a:rPr lang="en-US" sz="3000" b="1" dirty="0">
                <a:solidFill>
                  <a:schemeClr val="dk1"/>
                </a:solidFill>
                <a:latin typeface="Times New Roman" panose="02020603050405020304" pitchFamily="18" charset="0"/>
                <a:ea typeface="Century Gothic"/>
                <a:cs typeface="Times New Roman" panose="02020603050405020304" pitchFamily="18" charset="0"/>
                <a:sym typeface="Century Gothic"/>
              </a:rPr>
              <a:t>JSON File - Acts as the communication bridge between UiPath and the dashboard.</a:t>
            </a:r>
            <a:endParaRPr/>
          </a:p>
          <a:p>
            <a:r>
              <a:rPr lang="en-US" sz="3000" b="1" dirty="0">
                <a:solidFill>
                  <a:schemeClr val="dk1"/>
                </a:solidFill>
                <a:latin typeface="Times New Roman" panose="02020603050405020304" pitchFamily="18" charset="0"/>
                <a:ea typeface="Century Gothic"/>
                <a:cs typeface="Times New Roman" panose="02020603050405020304" pitchFamily="18" charset="0"/>
                <a:sym typeface="Century Gothic"/>
              </a:rPr>
              <a:t>VS Code Live Server - Serves the dashboard files through localhost.</a:t>
            </a:r>
            <a:endParaRPr/>
          </a:p>
        </p:txBody>
      </p:sp>
    </p:spTree>
    <p:extLst>
      <p:ext uri="{BB962C8B-B14F-4D97-AF65-F5344CB8AC3E}">
        <ns3:creationId val="2384057600"/>
      </p:ext>
    </p:extLst>
  </p:cSld>
  <p:clrMapOvr>
    <a:masterClrMapping/>
  </p:clrMapOvr>
</p:sld>
</file>

<file path=ppt/slides/slide7.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1" name="Shape 277"/>
        <p:cNvGrpSpPr/>
        <p:nvPr/>
      </p:nvGrpSpPr>
      <p:grpSpPr>
        <a:xfrm>
          <a:off x="0" y="0"/>
          <a:ext cx="0" cy="0"/>
          <a:chOff x="0" y="0"/>
          <a:chExt cx="0" cy="0"/>
        </a:xfrm>
      </p:grpSpPr>
      <p:sp>
        <p:nvSpPr>
          <p:cNvPr id="278" name="Google Shape;278;p23"/>
          <p:cNvSpPr/>
          <p:nvPr/>
        </p:nvSpPr>
        <p:spPr>
          <a:xfrm>
            <a:off x="475011"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3">
              <a:alphaModFix/>
            </a:blip>
            <a:stretch>
              <a:fillRect/>
            </a:stretch>
          </a:blipFill>
          <a:ln>
            <a:noFill/>
          </a:ln>
        </p:spPr>
      </p:sp>
      <p:sp>
        <p:nvSpPr>
          <p:cNvPr id="279" name="Google Shape;279;p23"/>
          <p:cNvSpPr/>
          <p:nvPr/>
        </p:nvSpPr>
        <p:spPr>
          <a:xfrm>
            <a:off x="6383974"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4">
              <a:alphaModFix/>
            </a:blip>
            <a:stretch>
              <a:fillRect/>
            </a:stretch>
          </a:blipFill>
          <a:ln>
            <a:noFill/>
          </a:ln>
        </p:spPr>
      </p:sp>
      <p:sp>
        <p:nvSpPr>
          <p:cNvPr id="280" name="Google Shape;280;p23"/>
          <p:cNvSpPr/>
          <p:nvPr/>
        </p:nvSpPr>
        <p:spPr>
          <a:xfrm>
            <a:off x="12292938"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5">
              <a:alphaModFix/>
            </a:blip>
            <a:stretch>
              <a:fillRect/>
            </a:stretch>
          </a:blipFill>
          <a:ln>
            <a:noFill/>
          </a:ln>
        </p:spPr>
      </p:sp>
      <p:sp>
        <p:nvSpPr>
          <p:cNvPr id="281" name="Google Shape;281;p23"/>
          <p:cNvSpPr/>
          <p:nvPr/>
        </p:nvSpPr>
        <p:spPr>
          <a:xfrm>
            <a:off x="484536" y="1000321"/>
            <a:ext cx="14330267" cy="617887"/>
          </a:xfrm>
          <a:custGeom>
            <a:avLst/>
            <a:gdLst/>
            <a:ahLst/>
            <a:cxnLst/>
            <a:rect l="l" t="t" r="r" b="b"/>
            <a:pathLst>
              <a:path w="19107023" h="823849" extrusionOk="0">
                <a:moveTo>
                  <a:pt x="0" y="0"/>
                </a:moveTo>
                <a:lnTo>
                  <a:pt x="19107023" y="0"/>
                </a:lnTo>
                <a:lnTo>
                  <a:pt x="19107023" y="823849"/>
                </a:lnTo>
                <a:lnTo>
                  <a:pt x="0" y="823849"/>
                </a:lnTo>
                <a:close/>
              </a:path>
            </a:pathLst>
          </a:custGeom>
          <a:solidFill>
            <a:srgbClr val="0070C0"/>
          </a:solidFill>
          <a:ln>
            <a:noFill/>
          </a:ln>
        </p:spPr>
      </p:sp>
      <p:sp>
        <p:nvSpPr>
          <p:cNvPr id="282" name="Google Shape;282;p23"/>
          <p:cNvSpPr/>
          <p:nvPr/>
        </p:nvSpPr>
        <p:spPr>
          <a:xfrm>
            <a:off x="475011" y="990796"/>
            <a:ext cx="14349317" cy="636937"/>
          </a:xfrm>
          <a:custGeom>
            <a:avLst/>
            <a:gdLst/>
            <a:ahLst/>
            <a:cxnLst/>
            <a:rect l="l" t="t" r="r" b="b"/>
            <a:pathLst>
              <a:path w="19132423" h="849249" extrusionOk="0">
                <a:moveTo>
                  <a:pt x="12700" y="0"/>
                </a:moveTo>
                <a:lnTo>
                  <a:pt x="19119723" y="0"/>
                </a:lnTo>
                <a:cubicBezTo>
                  <a:pt x="19126708" y="0"/>
                  <a:pt x="19132423" y="5715"/>
                  <a:pt x="19132423" y="12700"/>
                </a:cubicBezTo>
                <a:lnTo>
                  <a:pt x="19132423" y="836549"/>
                </a:lnTo>
                <a:cubicBezTo>
                  <a:pt x="19132423" y="843534"/>
                  <a:pt x="19126708" y="849249"/>
                  <a:pt x="19119723"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723" y="823849"/>
                </a:lnTo>
                <a:lnTo>
                  <a:pt x="19119723" y="836549"/>
                </a:lnTo>
                <a:lnTo>
                  <a:pt x="19107023" y="836549"/>
                </a:lnTo>
                <a:lnTo>
                  <a:pt x="19107023" y="12700"/>
                </a:lnTo>
                <a:lnTo>
                  <a:pt x="19119723" y="12700"/>
                </a:lnTo>
                <a:lnTo>
                  <a:pt x="19119723"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3" name="Google Shape;283;p23"/>
          <p:cNvGrpSpPr/>
          <p:nvPr/>
        </p:nvGrpSpPr>
        <p:grpSpPr>
          <a:xfrm>
            <a:off x="475011" y="990796"/>
            <a:ext cx="14349300" cy="636900"/>
            <a:chOff x="0" y="0"/>
            <a:chExt cx="19132400" cy="849200"/>
          </a:xfrm>
        </p:grpSpPr>
        <p:sp>
          <p:nvSpPr>
            <p:cNvPr id="284" name="Google Shape;284;p23"/>
            <p:cNvSpPr/>
            <p:nvPr/>
          </p:nvSpPr>
          <p:spPr>
            <a:xfrm>
              <a:off x="0" y="0"/>
              <a:ext cx="19132400" cy="849200"/>
            </a:xfrm>
            <a:custGeom>
              <a:avLst/>
              <a:gdLst/>
              <a:ahLst/>
              <a:cxnLst/>
              <a:rect l="l" t="t" r="r" b="b"/>
              <a:pathLst>
                <a:path w="19132400" h="849200" extrusionOk="0">
                  <a:moveTo>
                    <a:pt x="0" y="0"/>
                  </a:moveTo>
                  <a:lnTo>
                    <a:pt x="19132400" y="0"/>
                  </a:lnTo>
                  <a:lnTo>
                    <a:pt x="19132400" y="849200"/>
                  </a:lnTo>
                  <a:lnTo>
                    <a:pt x="0" y="849200"/>
                  </a:lnTo>
                  <a:close/>
                </a:path>
              </a:pathLst>
            </a:custGeom>
            <a:solidFill>
              <a:srgbClr val="000000">
                <a:alpha val="0"/>
              </a:srgbClr>
            </a:solidFill>
            <a:ln>
              <a:noFill/>
            </a:ln>
          </p:spPr>
        </p:sp>
        <p:sp>
          <p:nvSpPr>
            <p:cNvPr id="285" name="Google Shape;285;p23"/>
            <p:cNvSpPr txBox="1"/>
            <p:nvPr/>
          </p:nvSpPr>
          <p:spPr>
            <a:xfrm>
              <a:off x="0" y="0"/>
              <a:ext cx="19132400" cy="849200"/>
            </a:xfrm>
            <a:prstGeom prst="rect">
              <a:avLst/>
            </a:prstGeom>
            <a:noFill/>
            <a:ln>
              <a:noFill/>
            </a:ln>
          </p:spPr>
          <p:txBody>
            <a:bodyPr spcFirstLastPara="1" wrap="square" lIns="0" tIns="0" rIns="0" bIns="0" anchor="ctr" anchorCtr="0">
              <a:noAutofit/>
            </a:bodyPr>
            <a:lstStyle/>
            <a:p>
              <a:r>
                <a:rPr lang="en-US" sz="2700" b="1" dirty="0">
                  <a:solidFill>
                    <a:schemeClr val="tx1"/>
                  </a:solidFill>
                  <a:latin typeface="Century Gothic"/>
                  <a:sym typeface="Century Gothic"/>
                </a:rPr>
                <a:t>WORK FLOW</a:t>
              </a:r>
              <a:endParaRPr/>
            </a:p>
          </p:txBody>
        </p:sp>
      </p:grpSp>
      <p:sp>
        <p:nvSpPr>
          <p:cNvPr id="286" name="Google Shape;286;p23"/>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81" b="-383"/>
            </a:stretch>
          </a:blipFill>
          <a:ln>
            <a:noFill/>
          </a:ln>
        </p:spPr>
      </p:sp>
      <p:pic>
        <p:nvPicPr>
          <p:cNvPr id="4" name="Picture 3">
            <a:extLst>
              <a:ext uri="{FF2B5EF4-FFF2-40B4-BE49-F238E27FC236}">
                <ns3:creationId id="{2C3B33A6-AEEE-132F-0148-7E40DAFA51F1}"/>
              </a:ext>
            </a:extLst>
          </p:cNvPr>
          <p:cNvPicPr>
            <a:picLocks noChangeAspect="1"/>
          </p:cNvPicPr>
          <p:nvPr/>
        </p:nvPicPr>
        <p:blipFill>
          <a:blip r:embed="rId7"/>
          <a:stretch>
            <a:fillRect/>
          </a:stretch>
        </p:blipFill>
        <p:spPr>
          <a:xfrm>
            <a:off x="3455816" y="2032258"/>
            <a:ext cx="4627121" cy="7263946"/>
          </a:xfrm>
          <a:prstGeom prst="rect">
            <a:avLst/>
          </a:prstGeom>
        </p:spPr>
      </p:pic>
      <p:pic>
        <p:nvPicPr>
          <p:cNvPr id="3" name="Picture 2">
            <a:extLst>
              <a:ext uri="{FF2B5EF4-FFF2-40B4-BE49-F238E27FC236}">
                <ns3:creationId id="{EB81D698-D892-3B89-B6A1-8D85644D1C1C}"/>
              </a:ext>
            </a:extLst>
          </p:cNvPr>
          <p:cNvPicPr>
            <a:picLocks noChangeAspect="1"/>
          </p:cNvPicPr>
          <p:nvPr/>
        </p:nvPicPr>
        <p:blipFill>
          <a:blip r:embed="rId8"/>
          <a:stretch>
            <a:fillRect/>
          </a:stretch>
        </p:blipFill>
        <p:spPr>
          <a:xfrm>
            <a:off x="8470984" y="2022733"/>
            <a:ext cx="4494249" cy="7403026"/>
          </a:xfrm>
          <a:prstGeom prst="rect">
            <a:avLst/>
          </a:prstGeom>
        </p:spPr>
      </p:pic>
    </p:spTree>
  </p:cSld>
  <p:clrMapOvr>
    <a:masterClrMapping/>
  </p:clrMapOvr>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Shape 277">
          <a:extLst>
            <a:ext uri="{FF2B5EF4-FFF2-40B4-BE49-F238E27FC236}">
              <ns2:creationId id="{817A9F33-DD96-7221-D1BF-E7E705130785}"/>
            </a:ext>
          </a:extLst>
        </p:cNvPr>
        <p:cNvGrpSpPr/>
        <p:nvPr/>
      </p:nvGrpSpPr>
      <p:grpSpPr>
        <a:xfrm>
          <a:off x="0" y="0"/>
          <a:ext cx="0" cy="0"/>
          <a:chOff x="0" y="0"/>
          <a:chExt cx="0" cy="0"/>
        </a:xfrm>
      </p:grpSpPr>
      <p:sp>
        <p:nvSpPr>
          <p:cNvPr id="278" name="Google Shape;278;p23">
            <a:extLst>
              <a:ext uri="{FF2B5EF4-FFF2-40B4-BE49-F238E27FC236}">
                <ns2:creationId id="{A105DCEB-A1EA-140C-3010-135AE17E5C70}"/>
              </a:ext>
            </a:extLst>
          </p:cNvPr>
          <p:cNvSpPr/>
          <p:nvPr/>
        </p:nvSpPr>
        <p:spPr>
          <a:xfrm>
            <a:off x="475011"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3">
              <a:alphaModFix/>
            </a:blip>
            <a:stretch>
              <a:fillRect/>
            </a:stretch>
          </a:blipFill>
          <a:ln>
            <a:noFill/>
          </a:ln>
        </p:spPr>
      </p:sp>
      <p:sp>
        <p:nvSpPr>
          <p:cNvPr id="279" name="Google Shape;279;p23">
            <a:extLst>
              <a:ext uri="{FF2B5EF4-FFF2-40B4-BE49-F238E27FC236}">
                <ns2:creationId id="{0FA37271-80AB-2D5C-E7E3-F9596E7B1C39}"/>
              </a:ext>
            </a:extLst>
          </p:cNvPr>
          <p:cNvSpPr/>
          <p:nvPr/>
        </p:nvSpPr>
        <p:spPr>
          <a:xfrm>
            <a:off x="6383974"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4">
              <a:alphaModFix/>
            </a:blip>
            <a:stretch>
              <a:fillRect/>
            </a:stretch>
          </a:blipFill>
          <a:ln>
            <a:noFill/>
          </a:ln>
        </p:spPr>
      </p:sp>
      <p:sp>
        <p:nvSpPr>
          <p:cNvPr id="280" name="Google Shape;280;p23">
            <a:extLst>
              <a:ext uri="{FF2B5EF4-FFF2-40B4-BE49-F238E27FC236}">
                <ns2:creationId id="{B897CE80-8094-6B3F-0D27-836E0B9A66E4}"/>
              </a:ext>
            </a:extLst>
          </p:cNvPr>
          <p:cNvSpPr/>
          <p:nvPr/>
        </p:nvSpPr>
        <p:spPr>
          <a:xfrm>
            <a:off x="12292938"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5">
              <a:alphaModFix/>
            </a:blip>
            <a:stretch>
              <a:fillRect/>
            </a:stretch>
          </a:blipFill>
          <a:ln>
            <a:noFill/>
          </a:ln>
        </p:spPr>
      </p:sp>
      <p:sp>
        <p:nvSpPr>
          <p:cNvPr id="281" name="Google Shape;281;p23">
            <a:extLst>
              <a:ext uri="{FF2B5EF4-FFF2-40B4-BE49-F238E27FC236}">
                <ns2:creationId id="{5E2D82D7-4EC5-1238-A5F1-C9F47B13A391}"/>
              </a:ext>
            </a:extLst>
          </p:cNvPr>
          <p:cNvSpPr/>
          <p:nvPr/>
        </p:nvSpPr>
        <p:spPr>
          <a:xfrm>
            <a:off x="484536" y="1000321"/>
            <a:ext cx="14330267" cy="617887"/>
          </a:xfrm>
          <a:custGeom>
            <a:avLst/>
            <a:gdLst/>
            <a:ahLst/>
            <a:cxnLst/>
            <a:rect l="l" t="t" r="r" b="b"/>
            <a:pathLst>
              <a:path w="19107023" h="823849" extrusionOk="0">
                <a:moveTo>
                  <a:pt x="0" y="0"/>
                </a:moveTo>
                <a:lnTo>
                  <a:pt x="19107023" y="0"/>
                </a:lnTo>
                <a:lnTo>
                  <a:pt x="19107023" y="823849"/>
                </a:lnTo>
                <a:lnTo>
                  <a:pt x="0" y="823849"/>
                </a:lnTo>
                <a:close/>
              </a:path>
            </a:pathLst>
          </a:custGeom>
          <a:solidFill>
            <a:srgbClr val="0070C0"/>
          </a:solidFill>
          <a:ln>
            <a:noFill/>
          </a:ln>
        </p:spPr>
      </p:sp>
      <p:sp>
        <p:nvSpPr>
          <p:cNvPr id="282" name="Google Shape;282;p23">
            <a:extLst>
              <a:ext uri="{FF2B5EF4-FFF2-40B4-BE49-F238E27FC236}">
                <ns2:creationId id="{808CF898-8C1E-E7EF-C5A6-5FF7064E9F61}"/>
              </a:ext>
            </a:extLst>
          </p:cNvPr>
          <p:cNvSpPr/>
          <p:nvPr/>
        </p:nvSpPr>
        <p:spPr>
          <a:xfrm>
            <a:off x="475011" y="990796"/>
            <a:ext cx="14349317" cy="636937"/>
          </a:xfrm>
          <a:custGeom>
            <a:avLst/>
            <a:gdLst/>
            <a:ahLst/>
            <a:cxnLst/>
            <a:rect l="l" t="t" r="r" b="b"/>
            <a:pathLst>
              <a:path w="19132423" h="849249" extrusionOk="0">
                <a:moveTo>
                  <a:pt x="12700" y="0"/>
                </a:moveTo>
                <a:lnTo>
                  <a:pt x="19119723" y="0"/>
                </a:lnTo>
                <a:cubicBezTo>
                  <a:pt x="19126708" y="0"/>
                  <a:pt x="19132423" y="5715"/>
                  <a:pt x="19132423" y="12700"/>
                </a:cubicBezTo>
                <a:lnTo>
                  <a:pt x="19132423" y="836549"/>
                </a:lnTo>
                <a:cubicBezTo>
                  <a:pt x="19132423" y="843534"/>
                  <a:pt x="19126708" y="849249"/>
                  <a:pt x="19119723"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723" y="823849"/>
                </a:lnTo>
                <a:lnTo>
                  <a:pt x="19119723" y="836549"/>
                </a:lnTo>
                <a:lnTo>
                  <a:pt x="19107023" y="836549"/>
                </a:lnTo>
                <a:lnTo>
                  <a:pt x="19107023" y="12700"/>
                </a:lnTo>
                <a:lnTo>
                  <a:pt x="19119723" y="12700"/>
                </a:lnTo>
                <a:lnTo>
                  <a:pt x="19119723"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3" name="Google Shape;283;p23">
            <a:extLst>
              <a:ext uri="{FF2B5EF4-FFF2-40B4-BE49-F238E27FC236}">
                <ns2:creationId id="{569E3FEE-D598-FF67-8645-E4B01417DF19}"/>
              </a:ext>
            </a:extLst>
          </p:cNvPr>
          <p:cNvGrpSpPr/>
          <p:nvPr/>
        </p:nvGrpSpPr>
        <p:grpSpPr>
          <a:xfrm>
            <a:off x="475011" y="990796"/>
            <a:ext cx="14349300" cy="636900"/>
            <a:chOff x="0" y="0"/>
            <a:chExt cx="19132400" cy="849200"/>
          </a:xfrm>
        </p:grpSpPr>
        <p:sp>
          <p:nvSpPr>
            <p:cNvPr id="284" name="Google Shape;284;p23">
              <a:extLst>
                <a:ext uri="{FF2B5EF4-FFF2-40B4-BE49-F238E27FC236}">
                  <ns2:creationId id="{8FD2AC77-1FD7-06CB-8997-378851D01FBF}"/>
                </a:ext>
              </a:extLst>
            </p:cNvPr>
            <p:cNvSpPr/>
            <p:nvPr/>
          </p:nvSpPr>
          <p:spPr>
            <a:xfrm>
              <a:off x="0" y="0"/>
              <a:ext cx="19132400" cy="849200"/>
            </a:xfrm>
            <a:custGeom>
              <a:avLst/>
              <a:gdLst/>
              <a:ahLst/>
              <a:cxnLst/>
              <a:rect l="l" t="t" r="r" b="b"/>
              <a:pathLst>
                <a:path w="19132400" h="849200" extrusionOk="0">
                  <a:moveTo>
                    <a:pt x="0" y="0"/>
                  </a:moveTo>
                  <a:lnTo>
                    <a:pt x="19132400" y="0"/>
                  </a:lnTo>
                  <a:lnTo>
                    <a:pt x="19132400" y="849200"/>
                  </a:lnTo>
                  <a:lnTo>
                    <a:pt x="0" y="849200"/>
                  </a:lnTo>
                  <a:close/>
                </a:path>
              </a:pathLst>
            </a:custGeom>
            <a:solidFill>
              <a:srgbClr val="000000">
                <a:alpha val="0"/>
              </a:srgbClr>
            </a:solidFill>
            <a:ln>
              <a:noFill/>
            </a:ln>
          </p:spPr>
        </p:sp>
        <p:sp>
          <p:nvSpPr>
            <p:cNvPr id="285" name="Google Shape;285;p23">
              <a:extLst>
                <a:ext uri="{FF2B5EF4-FFF2-40B4-BE49-F238E27FC236}">
                  <ns2:creationId id="{A98E28CA-8DEC-D224-A256-E166916E30C5}"/>
                </a:ext>
              </a:extLst>
            </p:cNvPr>
            <p:cNvSpPr txBox="1"/>
            <p:nvPr/>
          </p:nvSpPr>
          <p:spPr>
            <a:xfrm>
              <a:off x="0" y="0"/>
              <a:ext cx="19132400" cy="849200"/>
            </a:xfrm>
            <a:prstGeom prst="rect">
              <a:avLst/>
            </a:prstGeom>
            <a:noFill/>
            <a:ln>
              <a:noFill/>
            </a:ln>
          </p:spPr>
          <p:txBody>
            <a:bodyPr spcFirstLastPara="1" wrap="square" lIns="0" tIns="0" rIns="0" bIns="0" anchor="ctr" anchorCtr="0">
              <a:noAutofit/>
            </a:bodyPr>
            <a:lstStyle/>
            <a:p>
              <a:r>
                <a:rPr lang="en-US" sz="2700" b="1" dirty="0">
                  <a:solidFill>
                    <a:schemeClr val="tx1"/>
                  </a:solidFill>
                  <a:latin typeface="Century Gothic"/>
                  <a:sym typeface="Century Gothic"/>
                </a:rPr>
                <a:t>WORK FLOW</a:t>
              </a:r>
              <a:endParaRPr/>
            </a:p>
          </p:txBody>
        </p:sp>
      </p:grpSp>
      <p:sp>
        <p:nvSpPr>
          <p:cNvPr id="286" name="Google Shape;286;p23">
            <a:extLst>
              <a:ext uri="{FF2B5EF4-FFF2-40B4-BE49-F238E27FC236}">
                <ns2:creationId id="{DC553A3D-624A-895F-DBEF-A06BC02D78EC}"/>
              </a:ext>
            </a:extLst>
          </p:cNvPr>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81" b="-383"/>
            </a:stretch>
          </a:blipFill>
          <a:ln>
            <a:noFill/>
          </a:ln>
        </p:spPr>
      </p:sp>
      <p:pic>
        <p:nvPicPr>
          <p:cNvPr id="5" name="Picture 4">
            <a:extLst>
              <a:ext uri="{FF2B5EF4-FFF2-40B4-BE49-F238E27FC236}">
                <ns2:creationId id="{FE2C2C9C-E48E-9495-8FEF-A0DD3160F0D7}"/>
              </a:ext>
            </a:extLst>
          </p:cNvPr>
          <p:cNvPicPr>
            <a:picLocks noChangeAspect="1"/>
          </p:cNvPicPr>
          <p:nvPr/>
        </p:nvPicPr>
        <p:blipFill>
          <a:blip r:embed="rId7"/>
          <a:stretch>
            <a:fillRect/>
          </a:stretch>
        </p:blipFill>
        <p:spPr>
          <a:xfrm>
            <a:off x="3471982" y="2022733"/>
            <a:ext cx="4501787" cy="7651723"/>
          </a:xfrm>
          <a:prstGeom prst="rect">
            <a:avLst/>
          </a:prstGeom>
        </p:spPr>
      </p:pic>
      <p:pic>
        <p:nvPicPr>
          <p:cNvPr id="7" name="Picture 6">
            <a:extLst>
              <a:ext uri="{FF2B5EF4-FFF2-40B4-BE49-F238E27FC236}">
                <ns2:creationId id="{F3CBD160-7B77-CB10-FEE0-F3A5EC38B80D}"/>
              </a:ext>
            </a:extLst>
          </p:cNvPr>
          <p:cNvPicPr>
            <a:picLocks noChangeAspect="1"/>
          </p:cNvPicPr>
          <p:nvPr/>
        </p:nvPicPr>
        <p:blipFill>
          <a:blip r:embed="rId8"/>
          <a:stretch>
            <a:fillRect/>
          </a:stretch>
        </p:blipFill>
        <p:spPr>
          <a:xfrm>
            <a:off x="8241183" y="1918509"/>
            <a:ext cx="5104900" cy="8167840"/>
          </a:xfrm>
          <a:prstGeom prst="rect">
            <a:avLst/>
          </a:prstGeom>
        </p:spPr>
      </p:pic>
    </p:spTree>
    <p:extLst>
      <p:ext uri="{BB962C8B-B14F-4D97-AF65-F5344CB8AC3E}">
        <ns4:creationId val="3043947815"/>
      </p:ext>
    </p:extLst>
  </p:cSld>
  <p:clrMapOvr>
    <a:masterClrMapping/>
  </p:clrMapOvr>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Shape 346">
          <a:extLst>
            <a:ext uri="{FF2B5EF4-FFF2-40B4-BE49-F238E27FC236}">
              <ns2:creationId id="{896C8AA8-A6B9-4EA7-7597-A1E380A41CFC}"/>
            </a:ext>
          </a:extLst>
        </p:cNvPr>
        <p:cNvGrpSpPr/>
        <p:nvPr/>
      </p:nvGrpSpPr>
      <p:grpSpPr>
        <a:xfrm>
          <a:off x="0" y="0"/>
          <a:ext cx="0" cy="0"/>
          <a:chOff x="0" y="0"/>
          <a:chExt cx="0" cy="0"/>
        </a:xfrm>
      </p:grpSpPr>
      <p:sp>
        <p:nvSpPr>
          <p:cNvPr id="347" name="Google Shape;347;p27">
            <a:extLst>
              <a:ext uri="{FF2B5EF4-FFF2-40B4-BE49-F238E27FC236}">
                <ns2:creationId id="{38D680F5-E970-F468-05F9-1007A5AE163B}"/>
              </a:ext>
            </a:extLst>
          </p:cNvPr>
          <p:cNvSpPr/>
          <p:nvPr/>
        </p:nvSpPr>
        <p:spPr>
          <a:xfrm>
            <a:off x="475011"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3">
              <a:alphaModFix/>
            </a:blip>
            <a:stretch>
              <a:fillRect/>
            </a:stretch>
          </a:blipFill>
          <a:ln>
            <a:noFill/>
          </a:ln>
        </p:spPr>
      </p:sp>
      <p:sp>
        <p:nvSpPr>
          <p:cNvPr id="348" name="Google Shape;348;p27">
            <a:extLst>
              <a:ext uri="{FF2B5EF4-FFF2-40B4-BE49-F238E27FC236}">
                <ns2:creationId id="{2A7C181E-58E5-1345-1302-9DFFFB1C1379}"/>
              </a:ext>
            </a:extLst>
          </p:cNvPr>
          <p:cNvSpPr/>
          <p:nvPr/>
        </p:nvSpPr>
        <p:spPr>
          <a:xfrm>
            <a:off x="6383974"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4">
              <a:alphaModFix/>
            </a:blip>
            <a:stretch>
              <a:fillRect/>
            </a:stretch>
          </a:blipFill>
          <a:ln>
            <a:noFill/>
          </a:ln>
        </p:spPr>
      </p:sp>
      <p:sp>
        <p:nvSpPr>
          <p:cNvPr id="349" name="Google Shape;349;p27">
            <a:extLst>
              <a:ext uri="{FF2B5EF4-FFF2-40B4-BE49-F238E27FC236}">
                <ns2:creationId id="{AA7E7AFD-C35E-0A59-896D-2A2B385A33E4}"/>
              </a:ext>
            </a:extLst>
          </p:cNvPr>
          <p:cNvSpPr/>
          <p:nvPr/>
        </p:nvSpPr>
        <p:spPr>
          <a:xfrm>
            <a:off x="12292938"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5">
              <a:alphaModFix/>
            </a:blip>
            <a:stretch>
              <a:fillRect/>
            </a:stretch>
          </a:blipFill>
          <a:ln>
            <a:noFill/>
          </a:ln>
        </p:spPr>
      </p:sp>
      <p:sp>
        <p:nvSpPr>
          <p:cNvPr id="350" name="Google Shape;350;p27">
            <a:extLst>
              <a:ext uri="{FF2B5EF4-FFF2-40B4-BE49-F238E27FC236}">
                <ns2:creationId id="{EE3B1C55-33CA-2449-C0C6-19E24176514A}"/>
              </a:ext>
            </a:extLst>
          </p:cNvPr>
          <p:cNvSpPr/>
          <p:nvPr/>
        </p:nvSpPr>
        <p:spPr>
          <a:xfrm>
            <a:off x="484536" y="1000321"/>
            <a:ext cx="14330172" cy="617887"/>
          </a:xfrm>
          <a:custGeom>
            <a:avLst/>
            <a:gdLst/>
            <a:ahLst/>
            <a:cxnLst/>
            <a:rect l="l" t="t" r="r" b="b"/>
            <a:pathLst>
              <a:path w="19106896" h="823849" extrusionOk="0">
                <a:moveTo>
                  <a:pt x="0" y="0"/>
                </a:moveTo>
                <a:lnTo>
                  <a:pt x="19106896" y="0"/>
                </a:lnTo>
                <a:lnTo>
                  <a:pt x="19106896" y="823849"/>
                </a:lnTo>
                <a:lnTo>
                  <a:pt x="0" y="823849"/>
                </a:lnTo>
                <a:close/>
              </a:path>
            </a:pathLst>
          </a:custGeom>
          <a:solidFill>
            <a:srgbClr val="0070C0"/>
          </a:solidFill>
          <a:ln>
            <a:noFill/>
          </a:ln>
        </p:spPr>
      </p:sp>
      <p:sp>
        <p:nvSpPr>
          <p:cNvPr id="351" name="Google Shape;351;p27">
            <a:extLst>
              <a:ext uri="{FF2B5EF4-FFF2-40B4-BE49-F238E27FC236}">
                <ns2:creationId id="{49C7DCA7-58F1-001C-3163-B995A4134392}"/>
              </a:ext>
            </a:extLst>
          </p:cNvPr>
          <p:cNvSpPr/>
          <p:nvPr/>
        </p:nvSpPr>
        <p:spPr>
          <a:xfrm>
            <a:off x="475011" y="990796"/>
            <a:ext cx="14349222" cy="636937"/>
          </a:xfrm>
          <a:custGeom>
            <a:avLst/>
            <a:gdLst/>
            <a:ahLst/>
            <a:cxnLst/>
            <a:rect l="l" t="t" r="r" b="b"/>
            <a:pathLst>
              <a:path w="19132296" h="849249" extrusionOk="0">
                <a:moveTo>
                  <a:pt x="12700" y="0"/>
                </a:moveTo>
                <a:lnTo>
                  <a:pt x="19119596" y="0"/>
                </a:lnTo>
                <a:cubicBezTo>
                  <a:pt x="19126581" y="0"/>
                  <a:pt x="19132296" y="5715"/>
                  <a:pt x="19132296" y="12700"/>
                </a:cubicBezTo>
                <a:lnTo>
                  <a:pt x="19132296" y="836549"/>
                </a:lnTo>
                <a:cubicBezTo>
                  <a:pt x="19132296" y="843534"/>
                  <a:pt x="19126581" y="849249"/>
                  <a:pt x="19119596"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596" y="823849"/>
                </a:lnTo>
                <a:lnTo>
                  <a:pt x="19119596" y="836549"/>
                </a:lnTo>
                <a:lnTo>
                  <a:pt x="19106896" y="836549"/>
                </a:lnTo>
                <a:lnTo>
                  <a:pt x="19106896" y="12700"/>
                </a:lnTo>
                <a:lnTo>
                  <a:pt x="19119596" y="12700"/>
                </a:lnTo>
                <a:lnTo>
                  <a:pt x="19119596"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354" name="Google Shape;354;p27">
            <a:extLst>
              <a:ext uri="{FF2B5EF4-FFF2-40B4-BE49-F238E27FC236}">
                <ns2:creationId id="{D511C1D7-CDCE-87A9-6BE4-50C02174F310}"/>
              </a:ext>
            </a:extLst>
          </p:cNvPr>
          <p:cNvSpPr txBox="1"/>
          <p:nvPr/>
        </p:nvSpPr>
        <p:spPr>
          <a:xfrm>
            <a:off x="672583" y="1014608"/>
            <a:ext cx="14349151" cy="617888"/>
          </a:xfrm>
          <a:prstGeom prst="rect">
            <a:avLst/>
          </a:prstGeom>
          <a:noFill/>
          <a:ln>
            <a:noFill/>
          </a:ln>
        </p:spPr>
        <p:txBody>
          <a:bodyPr spcFirstLastPara="1" wrap="square" lIns="0" tIns="0" rIns="0" bIns="0" anchor="ctr" anchorCtr="0">
            <a:noAutofit/>
          </a:bodyPr>
          <a:lstStyle/>
          <a:p>
            <a:r>
              <a:rPr lang="en-US" sz="2700" b="1" dirty="0">
                <a:solidFill>
                  <a:schemeClr val="tx1"/>
                </a:solidFill>
                <a:latin typeface="Century Gothic"/>
                <a:ea typeface="Calibri"/>
                <a:cs typeface="Calibri"/>
                <a:sym typeface="Century Gothic"/>
              </a:rPr>
              <a:t>INPUT</a:t>
            </a:r>
            <a:endParaRPr/>
          </a:p>
        </p:txBody>
      </p:sp>
      <p:sp>
        <p:nvSpPr>
          <p:cNvPr id="355" name="Google Shape;355;p27">
            <a:extLst>
              <a:ext uri="{FF2B5EF4-FFF2-40B4-BE49-F238E27FC236}">
                <ns2:creationId id="{77923FFE-6044-9A01-5AC5-741CA9CBCB0A}"/>
              </a:ext>
            </a:extLst>
          </p:cNvPr>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77" b="-388"/>
            </a:stretch>
          </a:blipFill>
          <a:ln>
            <a:noFill/>
          </a:ln>
        </p:spPr>
      </p:sp>
      <p:pic>
        <p:nvPicPr>
          <p:cNvPr id="4" name="Picture 3">
            <a:extLst>
              <a:ext uri="{FF2B5EF4-FFF2-40B4-BE49-F238E27FC236}">
                <ns2:creationId id="{60A00257-876F-1AB8-531F-B443C623A5BF}"/>
              </a:ext>
            </a:extLst>
          </p:cNvPr>
          <p:cNvPicPr>
            <a:picLocks noChangeAspect="1"/>
          </p:cNvPicPr>
          <p:nvPr/>
        </p:nvPicPr>
        <p:blipFill>
          <a:blip r:embed="rId7"/>
          <a:stretch>
            <a:fillRect/>
          </a:stretch>
        </p:blipFill>
        <p:spPr>
          <a:xfrm>
            <a:off x="1297715" y="2760992"/>
            <a:ext cx="7646667" cy="7239552"/>
          </a:xfrm>
          <a:prstGeom prst="rect">
            <a:avLst/>
          </a:prstGeom>
        </p:spPr>
      </p:pic>
      <p:pic>
        <p:nvPicPr>
          <p:cNvPr id="6" name="Picture 5">
            <a:extLst>
              <a:ext uri="{FF2B5EF4-FFF2-40B4-BE49-F238E27FC236}">
                <ns2:creationId id="{3F2CD301-42DD-DBD0-DBDB-A73C85937DAE}"/>
              </a:ext>
            </a:extLst>
          </p:cNvPr>
          <p:cNvPicPr>
            <a:picLocks noChangeAspect="1"/>
          </p:cNvPicPr>
          <p:nvPr/>
        </p:nvPicPr>
        <p:blipFill>
          <a:blip r:embed="rId8"/>
          <a:stretch>
            <a:fillRect/>
          </a:stretch>
        </p:blipFill>
        <p:spPr>
          <a:xfrm>
            <a:off x="9144000" y="2760992"/>
            <a:ext cx="7658066" cy="7278254"/>
          </a:xfrm>
          <a:prstGeom prst="rect">
            <a:avLst/>
          </a:prstGeom>
        </p:spPr>
      </p:pic>
      <p:sp>
        <p:nvSpPr>
          <p:cNvPr id="7" name="Google Shape;354;p27">
            <a:extLst>
              <a:ext uri="{FF2B5EF4-FFF2-40B4-BE49-F238E27FC236}">
                <ns2:creationId id="{6C6F9252-FE1F-427C-2F2C-AFC72752E55B}"/>
              </a:ext>
            </a:extLst>
          </p:cNvPr>
          <p:cNvSpPr txBox="1"/>
          <p:nvPr/>
        </p:nvSpPr>
        <p:spPr>
          <a:xfrm>
            <a:off x="1297715" y="1918356"/>
            <a:ext cx="14349151" cy="617888"/>
          </a:xfrm>
          <a:prstGeom prst="rect">
            <a:avLst/>
          </a:prstGeom>
          <a:noFill/>
          <a:ln>
            <a:noFill/>
          </a:ln>
        </p:spPr>
        <p:txBody>
          <a:bodyPr spcFirstLastPara="1" wrap="square" lIns="0" tIns="0" rIns="0" bIns="0" anchor="ctr" anchorCtr="0">
            <a:noAutofit/>
          </a:bodyPr>
          <a:lstStyle/>
          <a:p>
            <a:r>
              <a:rPr lang="en-US" sz="2700" b="1" dirty="0">
                <a:solidFill>
                  <a:schemeClr val="tx1"/>
                </a:solidFill>
                <a:latin typeface="Times New Roman" panose="02020603050405020304" pitchFamily="18" charset="0"/>
                <a:ea typeface="Calibri"/>
                <a:cs typeface="Times New Roman" panose="02020603050405020304" pitchFamily="18" charset="0"/>
                <a:sym typeface="Century Gothic"/>
              </a:rPr>
              <a:t>Windows counters and JSON data:</a:t>
            </a:r>
            <a:endParaRPr/>
          </a:p>
        </p:txBody>
      </p:sp>
    </p:spTree>
    <p:extLst>
      <p:ext uri="{BB962C8B-B14F-4D97-AF65-F5344CB8AC3E}">
        <ns4:creationId val="559623448"/>
      </p:ext>
    </p:extLst>
  </p:cSld>
  <p:clrMapOvr>
    <a:masterClrMapping/>
  </p:clrMapOvr>
</p:sld>
</file>

<file path=ppt/slides/slide10.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1" name="Shape 346"/>
        <p:cNvGrpSpPr/>
        <p:nvPr/>
      </p:nvGrpSpPr>
      <p:grpSpPr>
        <a:xfrm>
          <a:off x="0" y="0"/>
          <a:ext cx="0" cy="0"/>
          <a:chOff x="0" y="0"/>
          <a:chExt cx="0" cy="0"/>
        </a:xfrm>
      </p:grpSpPr>
      <p:sp>
        <p:nvSpPr>
          <p:cNvPr id="347" name="Google Shape;347;p27"/>
          <p:cNvSpPr/>
          <p:nvPr/>
        </p:nvSpPr>
        <p:spPr>
          <a:xfrm>
            <a:off x="475011"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3">
              <a:alphaModFix/>
            </a:blip>
            <a:stretch>
              <a:fillRect/>
            </a:stretch>
          </a:blipFill>
          <a:ln>
            <a:noFill/>
          </a:ln>
        </p:spPr>
      </p:sp>
      <p:sp>
        <p:nvSpPr>
          <p:cNvPr id="348" name="Google Shape;348;p27"/>
          <p:cNvSpPr/>
          <p:nvPr/>
        </p:nvSpPr>
        <p:spPr>
          <a:xfrm>
            <a:off x="6383974"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4">
              <a:alphaModFix/>
            </a:blip>
            <a:stretch>
              <a:fillRect/>
            </a:stretch>
          </a:blipFill>
          <a:ln>
            <a:noFill/>
          </a:ln>
        </p:spPr>
      </p:sp>
      <p:sp>
        <p:nvSpPr>
          <p:cNvPr id="349" name="Google Shape;349;p27"/>
          <p:cNvSpPr/>
          <p:nvPr/>
        </p:nvSpPr>
        <p:spPr>
          <a:xfrm>
            <a:off x="12292938"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5">
              <a:alphaModFix/>
            </a:blip>
            <a:stretch>
              <a:fillRect/>
            </a:stretch>
          </a:blipFill>
          <a:ln>
            <a:noFill/>
          </a:ln>
        </p:spPr>
      </p:sp>
      <p:sp>
        <p:nvSpPr>
          <p:cNvPr id="350" name="Google Shape;350;p27"/>
          <p:cNvSpPr/>
          <p:nvPr/>
        </p:nvSpPr>
        <p:spPr>
          <a:xfrm>
            <a:off x="484536" y="1000321"/>
            <a:ext cx="14330172" cy="617887"/>
          </a:xfrm>
          <a:custGeom>
            <a:avLst/>
            <a:gdLst/>
            <a:ahLst/>
            <a:cxnLst/>
            <a:rect l="l" t="t" r="r" b="b"/>
            <a:pathLst>
              <a:path w="19106896" h="823849" extrusionOk="0">
                <a:moveTo>
                  <a:pt x="0" y="0"/>
                </a:moveTo>
                <a:lnTo>
                  <a:pt x="19106896" y="0"/>
                </a:lnTo>
                <a:lnTo>
                  <a:pt x="19106896" y="823849"/>
                </a:lnTo>
                <a:lnTo>
                  <a:pt x="0" y="823849"/>
                </a:lnTo>
                <a:close/>
              </a:path>
            </a:pathLst>
          </a:custGeom>
          <a:solidFill>
            <a:srgbClr val="0070C0"/>
          </a:solidFill>
          <a:ln>
            <a:noFill/>
          </a:ln>
        </p:spPr>
      </p:sp>
      <p:sp>
        <p:nvSpPr>
          <p:cNvPr id="351" name="Google Shape;351;p27"/>
          <p:cNvSpPr/>
          <p:nvPr/>
        </p:nvSpPr>
        <p:spPr>
          <a:xfrm>
            <a:off x="475011" y="990796"/>
            <a:ext cx="14349222" cy="636937"/>
          </a:xfrm>
          <a:custGeom>
            <a:avLst/>
            <a:gdLst/>
            <a:ahLst/>
            <a:cxnLst/>
            <a:rect l="l" t="t" r="r" b="b"/>
            <a:pathLst>
              <a:path w="19132296" h="849249" extrusionOk="0">
                <a:moveTo>
                  <a:pt x="12700" y="0"/>
                </a:moveTo>
                <a:lnTo>
                  <a:pt x="19119596" y="0"/>
                </a:lnTo>
                <a:cubicBezTo>
                  <a:pt x="19126581" y="0"/>
                  <a:pt x="19132296" y="5715"/>
                  <a:pt x="19132296" y="12700"/>
                </a:cubicBezTo>
                <a:lnTo>
                  <a:pt x="19132296" y="836549"/>
                </a:lnTo>
                <a:cubicBezTo>
                  <a:pt x="19132296" y="843534"/>
                  <a:pt x="19126581" y="849249"/>
                  <a:pt x="19119596"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596" y="823849"/>
                </a:lnTo>
                <a:lnTo>
                  <a:pt x="19119596" y="836549"/>
                </a:lnTo>
                <a:lnTo>
                  <a:pt x="19106896" y="836549"/>
                </a:lnTo>
                <a:lnTo>
                  <a:pt x="19106896" y="12700"/>
                </a:lnTo>
                <a:lnTo>
                  <a:pt x="19119596" y="12700"/>
                </a:lnTo>
                <a:lnTo>
                  <a:pt x="19119596"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354" name="Google Shape;354;p27"/>
          <p:cNvSpPr txBox="1"/>
          <p:nvPr/>
        </p:nvSpPr>
        <p:spPr>
          <a:xfrm>
            <a:off x="672583" y="1014608"/>
            <a:ext cx="14349151" cy="617888"/>
          </a:xfrm>
          <a:prstGeom prst="rect">
            <a:avLst/>
          </a:prstGeom>
          <a:noFill/>
          <a:ln>
            <a:noFill/>
          </a:ln>
        </p:spPr>
        <p:txBody>
          <a:bodyPr spcFirstLastPara="1" wrap="square" lIns="0" tIns="0" rIns="0" bIns="0" anchor="ctr" anchorCtr="0">
            <a:noAutofit/>
          </a:bodyPr>
          <a:lstStyle/>
          <a:p>
            <a:r>
              <a:rPr lang="en-US" sz="2700" b="1" dirty="0">
                <a:solidFill>
                  <a:schemeClr val="tx1"/>
                </a:solidFill>
                <a:latin typeface="Century Gothic"/>
                <a:ea typeface="Calibri"/>
                <a:cs typeface="Calibri"/>
                <a:sym typeface="Century Gothic"/>
              </a:rPr>
              <a:t>OUTPUT</a:t>
            </a:r>
            <a:endParaRPr/>
          </a:p>
        </p:txBody>
      </p:sp>
      <p:sp>
        <p:nvSpPr>
          <p:cNvPr id="355" name="Google Shape;355;p27"/>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77" b="-388"/>
            </a:stretch>
          </a:blipFill>
          <a:ln>
            <a:noFill/>
          </a:ln>
        </p:spPr>
      </p:sp>
      <p:pic>
        <p:nvPicPr>
          <p:cNvPr id="4" name="Picture 3">
            <a:extLst>
              <a:ext uri="{FF2B5EF4-FFF2-40B4-BE49-F238E27FC236}">
                <ns3:creationId id="{FE01F580-0193-D29B-933F-37F3526CC7F8}"/>
              </a:ext>
            </a:extLst>
          </p:cNvPr>
          <p:cNvPicPr>
            <a:picLocks noChangeAspect="1"/>
          </p:cNvPicPr>
          <p:nvPr/>
        </p:nvPicPr>
        <p:blipFill>
          <a:blip r:embed="rId7"/>
          <a:stretch>
            <a:fillRect/>
          </a:stretch>
        </p:blipFill>
        <p:spPr>
          <a:xfrm>
            <a:off x="2594123" y="2511974"/>
            <a:ext cx="12427611" cy="6312281"/>
          </a:xfrm>
          <a:prstGeom prst="rect">
            <a:avLst/>
          </a:prstGeom>
        </p:spPr>
      </p:pic>
    </p:spTree>
  </p:cSld>
  <p:clrMapOvr>
    <a:masterClrMapping/>
  </p:clrMapOvr>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Shape 346">
          <a:extLst>
            <a:ext uri="{FF2B5EF4-FFF2-40B4-BE49-F238E27FC236}">
              <ns2:creationId id="{BAAAB36C-2AF1-0766-65FD-5D1EE5B08990}"/>
            </a:ext>
          </a:extLst>
        </p:cNvPr>
        <p:cNvGrpSpPr/>
        <p:nvPr/>
      </p:nvGrpSpPr>
      <p:grpSpPr>
        <a:xfrm>
          <a:off x="0" y="0"/>
          <a:ext cx="0" cy="0"/>
          <a:chOff x="0" y="0"/>
          <a:chExt cx="0" cy="0"/>
        </a:xfrm>
      </p:grpSpPr>
      <p:sp>
        <p:nvSpPr>
          <p:cNvPr id="347" name="Google Shape;347;p27">
            <a:extLst>
              <a:ext uri="{FF2B5EF4-FFF2-40B4-BE49-F238E27FC236}">
                <ns2:creationId id="{D247E630-D585-77C4-68C3-AF17B8023934}"/>
              </a:ext>
            </a:extLst>
          </p:cNvPr>
          <p:cNvSpPr/>
          <p:nvPr/>
        </p:nvSpPr>
        <p:spPr>
          <a:xfrm>
            <a:off x="475011"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3">
              <a:alphaModFix/>
            </a:blip>
            <a:stretch>
              <a:fillRect/>
            </a:stretch>
          </a:blipFill>
          <a:ln>
            <a:noFill/>
          </a:ln>
        </p:spPr>
      </p:sp>
      <p:sp>
        <p:nvSpPr>
          <p:cNvPr id="348" name="Google Shape;348;p27">
            <a:extLst>
              <a:ext uri="{FF2B5EF4-FFF2-40B4-BE49-F238E27FC236}">
                <ns2:creationId id="{CC7D6AB7-06D5-038C-0C55-8C4A9C71AC56}"/>
              </a:ext>
            </a:extLst>
          </p:cNvPr>
          <p:cNvSpPr/>
          <p:nvPr/>
        </p:nvSpPr>
        <p:spPr>
          <a:xfrm>
            <a:off x="6383974"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4">
              <a:alphaModFix/>
            </a:blip>
            <a:stretch>
              <a:fillRect/>
            </a:stretch>
          </a:blipFill>
          <a:ln>
            <a:noFill/>
          </a:ln>
        </p:spPr>
      </p:sp>
      <p:sp>
        <p:nvSpPr>
          <p:cNvPr id="349" name="Google Shape;349;p27">
            <a:extLst>
              <a:ext uri="{FF2B5EF4-FFF2-40B4-BE49-F238E27FC236}">
                <ns2:creationId id="{587B60DC-060B-2099-E83E-ED35CEAC3308}"/>
              </a:ext>
            </a:extLst>
          </p:cNvPr>
          <p:cNvSpPr/>
          <p:nvPr/>
        </p:nvSpPr>
        <p:spPr>
          <a:xfrm>
            <a:off x="12292938"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5">
              <a:alphaModFix/>
            </a:blip>
            <a:stretch>
              <a:fillRect/>
            </a:stretch>
          </a:blipFill>
          <a:ln>
            <a:noFill/>
          </a:ln>
        </p:spPr>
      </p:sp>
      <p:sp>
        <p:nvSpPr>
          <p:cNvPr id="350" name="Google Shape;350;p27">
            <a:extLst>
              <a:ext uri="{FF2B5EF4-FFF2-40B4-BE49-F238E27FC236}">
                <ns2:creationId id="{1603C432-3467-B3C0-B342-9B0F9402F5E5}"/>
              </a:ext>
            </a:extLst>
          </p:cNvPr>
          <p:cNvSpPr/>
          <p:nvPr/>
        </p:nvSpPr>
        <p:spPr>
          <a:xfrm>
            <a:off x="484536" y="1000321"/>
            <a:ext cx="14330172" cy="617887"/>
          </a:xfrm>
          <a:custGeom>
            <a:avLst/>
            <a:gdLst/>
            <a:ahLst/>
            <a:cxnLst/>
            <a:rect l="l" t="t" r="r" b="b"/>
            <a:pathLst>
              <a:path w="19106896" h="823849" extrusionOk="0">
                <a:moveTo>
                  <a:pt x="0" y="0"/>
                </a:moveTo>
                <a:lnTo>
                  <a:pt x="19106896" y="0"/>
                </a:lnTo>
                <a:lnTo>
                  <a:pt x="19106896" y="823849"/>
                </a:lnTo>
                <a:lnTo>
                  <a:pt x="0" y="823849"/>
                </a:lnTo>
                <a:close/>
              </a:path>
            </a:pathLst>
          </a:custGeom>
          <a:solidFill>
            <a:srgbClr val="0070C0"/>
          </a:solidFill>
          <a:ln>
            <a:noFill/>
          </a:ln>
        </p:spPr>
      </p:sp>
      <p:sp>
        <p:nvSpPr>
          <p:cNvPr id="351" name="Google Shape;351;p27">
            <a:extLst>
              <a:ext uri="{FF2B5EF4-FFF2-40B4-BE49-F238E27FC236}">
                <ns2:creationId id="{2225F174-4E2A-7179-C831-819BE6A73C7B}"/>
              </a:ext>
            </a:extLst>
          </p:cNvPr>
          <p:cNvSpPr/>
          <p:nvPr/>
        </p:nvSpPr>
        <p:spPr>
          <a:xfrm>
            <a:off x="475011" y="990796"/>
            <a:ext cx="14349222" cy="636937"/>
          </a:xfrm>
          <a:custGeom>
            <a:avLst/>
            <a:gdLst/>
            <a:ahLst/>
            <a:cxnLst/>
            <a:rect l="l" t="t" r="r" b="b"/>
            <a:pathLst>
              <a:path w="19132296" h="849249" extrusionOk="0">
                <a:moveTo>
                  <a:pt x="12700" y="0"/>
                </a:moveTo>
                <a:lnTo>
                  <a:pt x="19119596" y="0"/>
                </a:lnTo>
                <a:cubicBezTo>
                  <a:pt x="19126581" y="0"/>
                  <a:pt x="19132296" y="5715"/>
                  <a:pt x="19132296" y="12700"/>
                </a:cubicBezTo>
                <a:lnTo>
                  <a:pt x="19132296" y="836549"/>
                </a:lnTo>
                <a:cubicBezTo>
                  <a:pt x="19132296" y="843534"/>
                  <a:pt x="19126581" y="849249"/>
                  <a:pt x="19119596"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596" y="823849"/>
                </a:lnTo>
                <a:lnTo>
                  <a:pt x="19119596" y="836549"/>
                </a:lnTo>
                <a:lnTo>
                  <a:pt x="19106896" y="836549"/>
                </a:lnTo>
                <a:lnTo>
                  <a:pt x="19106896" y="12700"/>
                </a:lnTo>
                <a:lnTo>
                  <a:pt x="19119596" y="12700"/>
                </a:lnTo>
                <a:lnTo>
                  <a:pt x="19119596"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354" name="Google Shape;354;p27">
            <a:extLst>
              <a:ext uri="{FF2B5EF4-FFF2-40B4-BE49-F238E27FC236}">
                <ns2:creationId id="{971CF117-701A-DB4B-4F0F-F58D3D944438}"/>
              </a:ext>
            </a:extLst>
          </p:cNvPr>
          <p:cNvSpPr txBox="1"/>
          <p:nvPr/>
        </p:nvSpPr>
        <p:spPr>
          <a:xfrm>
            <a:off x="672583" y="1014608"/>
            <a:ext cx="14349151" cy="617888"/>
          </a:xfrm>
          <a:prstGeom prst="rect">
            <a:avLst/>
          </a:prstGeom>
          <a:noFill/>
          <a:ln>
            <a:noFill/>
          </a:ln>
        </p:spPr>
        <p:txBody>
          <a:bodyPr spcFirstLastPara="1" wrap="square" lIns="0" tIns="0" rIns="0" bIns="0" anchor="ctr" anchorCtr="0">
            <a:noAutofit/>
          </a:bodyPr>
          <a:lstStyle/>
          <a:p>
            <a:r>
              <a:rPr lang="en-US" sz="2700" b="1" dirty="0">
                <a:solidFill>
                  <a:schemeClr val="tx1"/>
                </a:solidFill>
                <a:latin typeface="Century Gothic"/>
                <a:ea typeface="Calibri"/>
                <a:cs typeface="Calibri"/>
                <a:sym typeface="Century Gothic"/>
              </a:rPr>
              <a:t>OUTPUT</a:t>
            </a:r>
            <a:endParaRPr/>
          </a:p>
        </p:txBody>
      </p:sp>
      <p:sp>
        <p:nvSpPr>
          <p:cNvPr id="355" name="Google Shape;355;p27">
            <a:extLst>
              <a:ext uri="{FF2B5EF4-FFF2-40B4-BE49-F238E27FC236}">
                <ns2:creationId id="{B8EA9911-168F-E45F-65B9-28AADBCE0711}"/>
              </a:ext>
            </a:extLst>
          </p:cNvPr>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77" b="-388"/>
            </a:stretch>
          </a:blipFill>
          <a:ln>
            <a:noFill/>
          </a:ln>
        </p:spPr>
      </p:sp>
      <p:pic>
        <p:nvPicPr>
          <p:cNvPr id="3" name="Picture 2">
            <a:extLst>
              <a:ext uri="{FF2B5EF4-FFF2-40B4-BE49-F238E27FC236}">
                <ns2:creationId id="{3C252357-4BFE-D4DB-A1F9-7433B3F0F8CD}"/>
              </a:ext>
            </a:extLst>
          </p:cNvPr>
          <p:cNvPicPr>
            <a:picLocks noChangeAspect="1"/>
          </p:cNvPicPr>
          <p:nvPr/>
        </p:nvPicPr>
        <p:blipFill>
          <a:blip r:embed="rId7"/>
          <a:stretch>
            <a:fillRect/>
          </a:stretch>
        </p:blipFill>
        <p:spPr>
          <a:xfrm>
            <a:off x="1695779" y="2337168"/>
            <a:ext cx="14409460" cy="6267438"/>
          </a:xfrm>
          <a:prstGeom prst="rect">
            <a:avLst/>
          </a:prstGeom>
        </p:spPr>
      </p:pic>
    </p:spTree>
    <p:extLst>
      <p:ext uri="{BB962C8B-B14F-4D97-AF65-F5344CB8AC3E}">
        <ns4:creationId val="3684493398"/>
      </p:ext>
    </p:extLst>
  </p:cSld>
  <p:clrMapOvr>
    <a:masterClrMapping/>
  </p:clrMapOvr>
</p:sld>
</file>

<file path=ppt/slides/slide12.xml><?xml version="1.0" encoding="utf-8"?>
<p:sld xmlns:a="http://schemas.openxmlformats.org/drawingml/2006/main" xmlns:ns3="http://schemas.microsoft.com/office/drawing/2014/main" xmlns:ns4="http://schemas.microsoft.com/office/drawing/2010/main" xmlns:p="http://schemas.openxmlformats.org/presentationml/2006/main" xmlns:r="http://schemas.openxmlformats.org/officeDocument/2006/relationships">
  <p:cSld>
    <p:spTree>
      <p:nvGrpSpPr>
        <p:cNvPr id="1" name="Shape 404"/>
        <p:cNvGrpSpPr/>
        <p:nvPr/>
      </p:nvGrpSpPr>
      <p:grpSpPr>
        <a:xfrm>
          <a:off x="0" y="0"/>
          <a:ext cx="0" cy="0"/>
          <a:chOff x="0" y="0"/>
          <a:chExt cx="0" cy="0"/>
        </a:xfrm>
      </p:grpSpPr>
      <p:sp>
        <p:nvSpPr>
          <p:cNvPr id="405" name="Google Shape;405;p30"/>
          <p:cNvSpPr/>
          <p:nvPr/>
        </p:nvSpPr>
        <p:spPr>
          <a:xfrm>
            <a:off x="475011"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3">
              <a:alphaModFix/>
            </a:blip>
            <a:stretch>
              <a:fillRect/>
            </a:stretch>
          </a:blipFill>
          <a:ln>
            <a:noFill/>
          </a:ln>
        </p:spPr>
      </p:sp>
      <p:sp>
        <p:nvSpPr>
          <p:cNvPr id="406" name="Google Shape;406;p30"/>
          <p:cNvSpPr/>
          <p:nvPr/>
        </p:nvSpPr>
        <p:spPr>
          <a:xfrm>
            <a:off x="6383974"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4">
              <a:alphaModFix/>
            </a:blip>
            <a:stretch>
              <a:fillRect/>
            </a:stretch>
          </a:blipFill>
          <a:ln>
            <a:noFill/>
          </a:ln>
        </p:spPr>
      </p:sp>
      <p:sp>
        <p:nvSpPr>
          <p:cNvPr id="407" name="Google Shape;407;p30"/>
          <p:cNvSpPr/>
          <p:nvPr/>
        </p:nvSpPr>
        <p:spPr>
          <a:xfrm>
            <a:off x="12292938"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5">
              <a:alphaModFix/>
            </a:blip>
            <a:stretch>
              <a:fillRect/>
            </a:stretch>
          </a:blipFill>
          <a:ln>
            <a:noFill/>
          </a:ln>
        </p:spPr>
      </p:sp>
      <p:sp>
        <p:nvSpPr>
          <p:cNvPr id="408" name="Google Shape;408;p30"/>
          <p:cNvSpPr/>
          <p:nvPr/>
        </p:nvSpPr>
        <p:spPr>
          <a:xfrm>
            <a:off x="484536" y="1000321"/>
            <a:ext cx="14330173" cy="617886"/>
          </a:xfrm>
          <a:custGeom>
            <a:avLst/>
            <a:gdLst/>
            <a:ahLst/>
            <a:cxnLst/>
            <a:rect l="l" t="t" r="r" b="b"/>
            <a:pathLst>
              <a:path w="19106896" h="823849" extrusionOk="0">
                <a:moveTo>
                  <a:pt x="0" y="0"/>
                </a:moveTo>
                <a:lnTo>
                  <a:pt x="19106896" y="0"/>
                </a:lnTo>
                <a:lnTo>
                  <a:pt x="19106896" y="823849"/>
                </a:lnTo>
                <a:lnTo>
                  <a:pt x="0" y="823849"/>
                </a:lnTo>
                <a:close/>
              </a:path>
            </a:pathLst>
          </a:custGeom>
          <a:solidFill>
            <a:srgbClr val="0070C0"/>
          </a:solidFill>
          <a:ln>
            <a:noFill/>
          </a:ln>
        </p:spPr>
      </p:sp>
      <p:sp>
        <p:nvSpPr>
          <p:cNvPr id="409" name="Google Shape;409;p30"/>
          <p:cNvSpPr/>
          <p:nvPr/>
        </p:nvSpPr>
        <p:spPr>
          <a:xfrm>
            <a:off x="475011" y="990796"/>
            <a:ext cx="14349222" cy="636936"/>
          </a:xfrm>
          <a:custGeom>
            <a:avLst/>
            <a:gdLst/>
            <a:ahLst/>
            <a:cxnLst/>
            <a:rect l="l" t="t" r="r" b="b"/>
            <a:pathLst>
              <a:path w="19132296" h="849249" extrusionOk="0">
                <a:moveTo>
                  <a:pt x="12700" y="0"/>
                </a:moveTo>
                <a:lnTo>
                  <a:pt x="19119596" y="0"/>
                </a:lnTo>
                <a:cubicBezTo>
                  <a:pt x="19126581" y="0"/>
                  <a:pt x="19132296" y="5715"/>
                  <a:pt x="19132296" y="12700"/>
                </a:cubicBezTo>
                <a:lnTo>
                  <a:pt x="19132296" y="836549"/>
                </a:lnTo>
                <a:cubicBezTo>
                  <a:pt x="19132296" y="843534"/>
                  <a:pt x="19126581" y="849249"/>
                  <a:pt x="19119596"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596" y="823849"/>
                </a:lnTo>
                <a:lnTo>
                  <a:pt x="19119596" y="836549"/>
                </a:lnTo>
                <a:lnTo>
                  <a:pt x="19106896" y="836549"/>
                </a:lnTo>
                <a:lnTo>
                  <a:pt x="19106896" y="12700"/>
                </a:lnTo>
                <a:lnTo>
                  <a:pt x="19119596" y="12700"/>
                </a:lnTo>
                <a:lnTo>
                  <a:pt x="19119596"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0"/>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81" b="-383"/>
            </a:stretch>
          </a:blipFill>
          <a:ln>
            <a:noFill/>
          </a:ln>
        </p:spPr>
      </p:sp>
      <p:sp>
        <p:nvSpPr>
          <p:cNvPr id="2" name="Rectangle 1">
            <a:extLst>
              <a:ext uri="{FF2B5EF4-FFF2-40B4-BE49-F238E27FC236}">
                <ns3:creationId id="{90B67926-DE84-488C-A856-30466F171A09}"/>
              </a:ext>
            </a:extLst>
          </p:cNvPr>
          <p:cNvSpPr>
            <a:spLocks noChangeArrowheads="1"/>
          </p:cNvSpPr>
          <p:nvPr/>
        </p:nvSpPr>
        <p:spPr bwMode="auto">
          <a:xfrm>
            <a:off x="1508971" y="2070066"/>
            <a:ext cx="16779029" cy="6934334"/>
          </a:xfrm>
          <a:prstGeom prst="rect">
            <a:avLst/>
          </a:prstGeom>
          <a:noFill/>
          <a:ln>
            <a:noFill/>
          </a:ln>
          <a:effectLst/>
          <a:extLst>
            <a:ext uri="{909E8E84-426E-40DD-AFC4-6F175D3DCCD1}">
              <ns4:hiddenFill>
                <a:solidFill>
                  <a:schemeClr val="accent1"/>
                </a:solidFill>
              </ns4:hiddenFill>
            </a:ext>
            <a:ext uri="{91240B29-F687-4F45-9708-019B960494DF}">
              <ns4:hiddenLine w="9525">
                <a:solidFill>
                  <a:schemeClr val="tx1"/>
                </a:solidFill>
                <a:miter lim="800000"/>
                <a:headEnd/>
                <a:tailEnd/>
              </ns4:hiddenLine>
            </a:ext>
            <a:ext uri="{AF507438-7753-43E0-B8FC-AC1667EBCBE1}">
              <ns4:hiddenEffects>
                <a:effectLst>
                  <a:outerShdw dist="35921" dir="2700000" algn="ctr" rotWithShape="0">
                    <a:schemeClr val="bg2"/>
                  </a:outerShdw>
                </a:effectLst>
              </ns4:hiddenEffects>
            </a:ext>
          </a:extLst>
        </p:spPr>
        <p:txBody>
          <a:bodyPr vert="horz" wrap="square" lIns="91440" tIns="45720" rIns="91440" bIns="45720" numCol="1" anchor="ctr" anchorCtr="0" compatLnSpc="1">
            <a:prstTxWarp prst="textNoShape">
              <a:avLst/>
            </a:prstTxWarp>
            <a:spAutoFit/>
          </a:bodyPr>
          <a:lstStyle/>
          <a:p>
            <a:r>
              <a:rPr lang="en-US" sz="3000" dirty="0">
                <a:latin typeface="Times New Roman" panose="02020603050405020304" pitchFamily="18" charset="0"/>
                <a:cs typeface="Times New Roman" panose="02020603050405020304" pitchFamily="18" charset="0"/>
              </a:rPr>
              <a:t>Open UiPath Studio and run Main.xaml.</a:t>
            </a:r>
            <a:endParaRPr/>
          </a:p>
          <a:p>
            <a:r>
              <a:rPr lang="en-US" sz="3000" dirty="0">
                <a:latin typeface="Times New Roman" panose="02020603050405020304" pitchFamily="18" charset="0"/>
                <a:cs typeface="Times New Roman" panose="02020603050405020304" pitchFamily="18" charset="0"/>
              </a:rPr>
              <a:t>Invoke PowerShell to collect CPU, RAM, GPU, and process data.</a:t>
            </a:r>
            <a:endParaRPr/>
          </a:p>
          <a:p>
            <a:r>
              <a:rPr lang="en-US" sz="3000" dirty="0">
                <a:latin typeface="Times New Roman" panose="02020603050405020304" pitchFamily="18" charset="0"/>
                <a:cs typeface="Times New Roman" panose="02020603050405020304" pitchFamily="18" charset="0"/>
              </a:rPr>
              <a:t>Convert the collected values into structured JSON.</a:t>
            </a:r>
            <a:endParaRPr/>
          </a:p>
          <a:p>
            <a:r>
              <a:rPr lang="en-US" sz="3000" dirty="0">
                <a:latin typeface="Times New Roman" panose="02020603050405020304" pitchFamily="18" charset="0"/>
                <a:cs typeface="Times New Roman" panose="02020603050405020304" pitchFamily="18" charset="0"/>
              </a:rPr>
              <a:t>Write JSON safely to dashboard/performance.json.</a:t>
            </a:r>
            <a:endParaRPr/>
          </a:p>
          <a:p>
            <a:r>
              <a:rPr lang="en-US" sz="3000" dirty="0">
                <a:latin typeface="Times New Roman" panose="02020603050405020304" pitchFamily="18" charset="0"/>
                <a:cs typeface="Times New Roman" panose="02020603050405020304" pitchFamily="18" charset="0"/>
              </a:rPr>
              <a:t>Open the dashboard using VS Code Live Server.</a:t>
            </a:r>
            <a:endParaRPr/>
          </a:p>
          <a:p>
            <a:r>
              <a:rPr lang="en-US" sz="3000" dirty="0">
                <a:latin typeface="Times New Roman" panose="02020603050405020304" pitchFamily="18" charset="0"/>
                <a:cs typeface="Times New Roman" panose="02020603050405020304" pitchFamily="18" charset="0"/>
              </a:rPr>
              <a:t>Fetch performance.json every three seconds.</a:t>
            </a:r>
            <a:endParaRPr/>
          </a:p>
          <a:p>
            <a:r>
              <a:rPr lang="en-US" sz="3000" dirty="0">
                <a:latin typeface="Times New Roman" panose="02020603050405020304" pitchFamily="18" charset="0"/>
                <a:cs typeface="Times New Roman" panose="02020603050405020304" pitchFamily="18" charset="0"/>
              </a:rPr>
              <a:t>Update progress bars and application tables dynamically.</a:t>
            </a:r>
            <a:endParaRPr/>
          </a:p>
          <a:p>
            <a:r>
              <a:rPr lang="en-US" sz="3000" dirty="0">
                <a:latin typeface="Times New Roman" panose="02020603050405020304" pitchFamily="18" charset="0"/>
                <a:cs typeface="Times New Roman" panose="02020603050405020304" pitchFamily="18" charset="0"/>
              </a:rPr>
              <a:t>Show fallback messages when no GPU apps are active.</a:t>
            </a:r>
            <a:endParaRPr/>
          </a:p>
          <a:p>
            <a:r>
              <a:rPr lang="en-US" sz="3000" dirty="0">
                <a:latin typeface="Times New Roman" panose="02020603050405020304" pitchFamily="18" charset="0"/>
                <a:cs typeface="Times New Roman" panose="02020603050405020304" pitchFamily="18" charset="0"/>
              </a:rPr>
              <a:t>Export dashboard data as CSV or Excel.</a:t>
            </a:r>
            <a:endParaRPr/>
          </a:p>
        </p:txBody>
      </p:sp>
      <p:sp>
        <p:nvSpPr>
          <p:cNvPr id="3" name="TextBox 2">
            <a:extLst>
              <a:ext uri="{FF2B5EF4-FFF2-40B4-BE49-F238E27FC236}">
                <ns3:creationId id="{1FB13C49-1A84-3C5D-899D-2061FD395E93}"/>
              </a:ext>
            </a:extLst>
          </p:cNvPr>
          <p:cNvSpPr txBox="1"/>
          <p:nvPr/>
        </p:nvSpPr>
        <p:spPr>
          <a:xfrm>
            <a:off x="7410833" y="1047654"/>
            <a:ext cx="1733167" cy="523220"/>
          </a:xfrm>
          <a:prstGeom prst="rect">
            <a:avLst/>
          </a:prstGeom>
          <a:noFill/>
        </p:spPr>
        <p:txBody>
          <a:bodyPr wrap="none" rtlCol="0">
            <a:spAutoFit/>
          </a:bodyPr>
          <a:lstStyle/>
          <a:p>
            <a:r>
              <a:rPr lang="en-US" sz="2800" b="1" dirty="0">
                <a:latin typeface="Century Gothic" panose="020B0502020202020204" pitchFamily="34" charset="0"/>
                <a:cs typeface="Times New Roman" panose="02020603050405020304" pitchFamily="18" charset="0"/>
              </a:rPr>
              <a:t>PROCESS</a:t>
            </a:r>
            <a:endParaRPr/>
          </a:p>
        </p:txBody>
      </p:sp>
    </p:spTree>
  </p:cSld>
  <p:clrMapOvr>
    <a:masterClrMapping/>
  </p:clrMapOvr>
</p:sld>
</file>

<file path=ppt/slides/slide13.xml><?xml version="1.0" encoding="utf-8"?>
<p:sld xmlns:a="http://schemas.openxmlformats.org/drawingml/2006/main" xmlns:ns2="http://schemas.microsoft.com/office/drawing/2014/main" xmlns:ns4="http://schemas.microsoft.com/office/drawing/2010/main" xmlns:ns5="http://schemas.microsoft.com/office/powerpoint/2010/main" xmlns:p="http://schemas.openxmlformats.org/presentationml/2006/main" xmlns:r="http://schemas.openxmlformats.org/officeDocument/2006/relationships">
  <p:cSld>
    <p:spTree>
      <p:nvGrpSpPr>
        <p:cNvPr id="1" name="Shape 404">
          <a:extLst>
            <a:ext uri="{FF2B5EF4-FFF2-40B4-BE49-F238E27FC236}">
              <ns2:creationId id="{A1D7B8F4-D5A4-5730-9161-2AEB0E8C31A9}"/>
            </a:ext>
          </a:extLst>
        </p:cNvPr>
        <p:cNvGrpSpPr/>
        <p:nvPr/>
      </p:nvGrpSpPr>
      <p:grpSpPr>
        <a:xfrm>
          <a:off x="0" y="0"/>
          <a:ext cx="0" cy="0"/>
          <a:chOff x="0" y="0"/>
          <a:chExt cx="0" cy="0"/>
        </a:xfrm>
      </p:grpSpPr>
      <p:sp>
        <p:nvSpPr>
          <p:cNvPr id="405" name="Google Shape;405;p30">
            <a:extLst>
              <a:ext uri="{FF2B5EF4-FFF2-40B4-BE49-F238E27FC236}">
                <ns2:creationId id="{9949857E-7E42-F64A-4009-72DD5219901D}"/>
              </a:ext>
            </a:extLst>
          </p:cNvPr>
          <p:cNvSpPr/>
          <p:nvPr/>
        </p:nvSpPr>
        <p:spPr>
          <a:xfrm>
            <a:off x="475011"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3">
              <a:alphaModFix/>
            </a:blip>
            <a:stretch>
              <a:fillRect/>
            </a:stretch>
          </a:blipFill>
          <a:ln>
            <a:noFill/>
          </a:ln>
        </p:spPr>
      </p:sp>
      <p:sp>
        <p:nvSpPr>
          <p:cNvPr id="406" name="Google Shape;406;p30">
            <a:extLst>
              <a:ext uri="{FF2B5EF4-FFF2-40B4-BE49-F238E27FC236}">
                <ns2:creationId id="{253CF7AD-58EF-DAB3-5E53-2645A8A4A881}"/>
              </a:ext>
            </a:extLst>
          </p:cNvPr>
          <p:cNvSpPr/>
          <p:nvPr/>
        </p:nvSpPr>
        <p:spPr>
          <a:xfrm>
            <a:off x="6383974"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4">
              <a:alphaModFix/>
            </a:blip>
            <a:stretch>
              <a:fillRect/>
            </a:stretch>
          </a:blipFill>
          <a:ln>
            <a:noFill/>
          </a:ln>
        </p:spPr>
      </p:sp>
      <p:sp>
        <p:nvSpPr>
          <p:cNvPr id="407" name="Google Shape;407;p30">
            <a:extLst>
              <a:ext uri="{FF2B5EF4-FFF2-40B4-BE49-F238E27FC236}">
                <ns2:creationId id="{FA422855-C96A-7401-C45A-5547A5750665}"/>
              </a:ext>
            </a:extLst>
          </p:cNvPr>
          <p:cNvSpPr/>
          <p:nvPr/>
        </p:nvSpPr>
        <p:spPr>
          <a:xfrm>
            <a:off x="12292938"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5">
              <a:alphaModFix/>
            </a:blip>
            <a:stretch>
              <a:fillRect/>
            </a:stretch>
          </a:blipFill>
          <a:ln>
            <a:noFill/>
          </a:ln>
        </p:spPr>
      </p:sp>
      <p:sp>
        <p:nvSpPr>
          <p:cNvPr id="408" name="Google Shape;408;p30">
            <a:extLst>
              <a:ext uri="{FF2B5EF4-FFF2-40B4-BE49-F238E27FC236}">
                <ns2:creationId id="{7B9683F1-47C6-E259-CD68-F91A47F59B96}"/>
              </a:ext>
            </a:extLst>
          </p:cNvPr>
          <p:cNvSpPr/>
          <p:nvPr/>
        </p:nvSpPr>
        <p:spPr>
          <a:xfrm>
            <a:off x="484536" y="1000321"/>
            <a:ext cx="14330173" cy="617886"/>
          </a:xfrm>
          <a:custGeom>
            <a:avLst/>
            <a:gdLst/>
            <a:ahLst/>
            <a:cxnLst/>
            <a:rect l="l" t="t" r="r" b="b"/>
            <a:pathLst>
              <a:path w="19106896" h="823849" extrusionOk="0">
                <a:moveTo>
                  <a:pt x="0" y="0"/>
                </a:moveTo>
                <a:lnTo>
                  <a:pt x="19106896" y="0"/>
                </a:lnTo>
                <a:lnTo>
                  <a:pt x="19106896" y="823849"/>
                </a:lnTo>
                <a:lnTo>
                  <a:pt x="0" y="823849"/>
                </a:lnTo>
                <a:close/>
              </a:path>
            </a:pathLst>
          </a:custGeom>
          <a:solidFill>
            <a:srgbClr val="0070C0"/>
          </a:solidFill>
          <a:ln>
            <a:noFill/>
          </a:ln>
        </p:spPr>
      </p:sp>
      <p:sp>
        <p:nvSpPr>
          <p:cNvPr id="409" name="Google Shape;409;p30">
            <a:extLst>
              <a:ext uri="{FF2B5EF4-FFF2-40B4-BE49-F238E27FC236}">
                <ns2:creationId id="{27EBC1F5-AF34-CD7B-4DE8-AE3EEAE1447C}"/>
              </a:ext>
            </a:extLst>
          </p:cNvPr>
          <p:cNvSpPr/>
          <p:nvPr/>
        </p:nvSpPr>
        <p:spPr>
          <a:xfrm>
            <a:off x="475011" y="990796"/>
            <a:ext cx="14349222" cy="636936"/>
          </a:xfrm>
          <a:custGeom>
            <a:avLst/>
            <a:gdLst/>
            <a:ahLst/>
            <a:cxnLst/>
            <a:rect l="l" t="t" r="r" b="b"/>
            <a:pathLst>
              <a:path w="19132296" h="849249" extrusionOk="0">
                <a:moveTo>
                  <a:pt x="12700" y="0"/>
                </a:moveTo>
                <a:lnTo>
                  <a:pt x="19119596" y="0"/>
                </a:lnTo>
                <a:cubicBezTo>
                  <a:pt x="19126581" y="0"/>
                  <a:pt x="19132296" y="5715"/>
                  <a:pt x="19132296" y="12700"/>
                </a:cubicBezTo>
                <a:lnTo>
                  <a:pt x="19132296" y="836549"/>
                </a:lnTo>
                <a:cubicBezTo>
                  <a:pt x="19132296" y="843534"/>
                  <a:pt x="19126581" y="849249"/>
                  <a:pt x="19119596"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596" y="823849"/>
                </a:lnTo>
                <a:lnTo>
                  <a:pt x="19119596" y="836549"/>
                </a:lnTo>
                <a:lnTo>
                  <a:pt x="19106896" y="836549"/>
                </a:lnTo>
                <a:lnTo>
                  <a:pt x="19106896" y="12700"/>
                </a:lnTo>
                <a:lnTo>
                  <a:pt x="19119596" y="12700"/>
                </a:lnTo>
                <a:lnTo>
                  <a:pt x="19119596"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0" name="Google Shape;410;p30">
            <a:extLst>
              <a:ext uri="{FF2B5EF4-FFF2-40B4-BE49-F238E27FC236}">
                <ns2:creationId id="{EC072F5A-D2C9-6458-EB4F-0CD501E57ACC}"/>
              </a:ext>
            </a:extLst>
          </p:cNvPr>
          <p:cNvGrpSpPr/>
          <p:nvPr/>
        </p:nvGrpSpPr>
        <p:grpSpPr>
          <a:xfrm>
            <a:off x="868891" y="1202259"/>
            <a:ext cx="13955297" cy="523033"/>
            <a:chOff x="0" y="0"/>
            <a:chExt cx="19132237" cy="849283"/>
          </a:xfrm>
        </p:grpSpPr>
        <p:sp>
          <p:nvSpPr>
            <p:cNvPr id="411" name="Google Shape;411;p30">
              <a:extLst>
                <a:ext uri="{FF2B5EF4-FFF2-40B4-BE49-F238E27FC236}">
                  <ns2:creationId id="{F84312F9-53B6-2CED-34BF-4626580803B9}"/>
                </a:ext>
              </a:extLst>
            </p:cNvPr>
            <p:cNvSpPr/>
            <p:nvPr/>
          </p:nvSpPr>
          <p:spPr>
            <a:xfrm>
              <a:off x="0" y="0"/>
              <a:ext cx="19132237" cy="849283"/>
            </a:xfrm>
            <a:custGeom>
              <a:avLst/>
              <a:gdLst/>
              <a:ahLst/>
              <a:cxnLst/>
              <a:rect l="l" t="t" r="r" b="b"/>
              <a:pathLst>
                <a:path w="19132237" h="849283" extrusionOk="0">
                  <a:moveTo>
                    <a:pt x="0" y="0"/>
                  </a:moveTo>
                  <a:lnTo>
                    <a:pt x="19132237" y="0"/>
                  </a:lnTo>
                  <a:lnTo>
                    <a:pt x="19132237" y="849283"/>
                  </a:lnTo>
                  <a:lnTo>
                    <a:pt x="0" y="849283"/>
                  </a:lnTo>
                  <a:close/>
                </a:path>
              </a:pathLst>
            </a:custGeom>
            <a:solidFill>
              <a:srgbClr val="000000">
                <a:alpha val="0"/>
              </a:srgbClr>
            </a:solidFill>
            <a:ln>
              <a:noFill/>
            </a:ln>
          </p:spPr>
        </p:sp>
        <p:sp>
          <p:nvSpPr>
            <p:cNvPr id="412" name="Google Shape;412;p30">
              <a:extLst>
                <a:ext uri="{FF2B5EF4-FFF2-40B4-BE49-F238E27FC236}">
                  <ns2:creationId id="{D076C8FA-73CA-A5A2-E9B3-543A89795BBB}"/>
                </a:ext>
              </a:extLst>
            </p:cNvPr>
            <p:cNvSpPr txBox="1"/>
            <p:nvPr/>
          </p:nvSpPr>
          <p:spPr>
            <a:xfrm>
              <a:off x="0" y="0"/>
              <a:ext cx="19132237" cy="486032"/>
            </a:xfrm>
            <a:prstGeom prst="rect">
              <a:avLst/>
            </a:prstGeom>
            <a:noFill/>
            <a:ln>
              <a:noFill/>
            </a:ln>
          </p:spPr>
          <p:txBody>
            <a:bodyPr spcFirstLastPara="1" wrap="square" lIns="0" tIns="0" rIns="0" bIns="0" anchor="ctr" anchorCtr="0">
              <a:noAutofit/>
            </a:bodyPr>
            <a:lstStyle/>
            <a:p>
              <a:r>
                <a:rPr lang="en-US" sz="2700" b="1" i="0" u="none" strike="noStrike" cap="none" dirty="0">
                  <a:solidFill>
                    <a:schemeClr val="tx1"/>
                  </a:solidFill>
                  <a:latin typeface="Century Gothic"/>
                  <a:ea typeface="Century Gothic"/>
                  <a:cs typeface="Century Gothic"/>
                  <a:sym typeface="Century Gothic"/>
                </a:rPr>
                <a:t>CONCLUSION</a:t>
              </a:r>
              <a:endParaRPr/>
            </a:p>
          </p:txBody>
        </p:sp>
      </p:grpSp>
      <p:sp>
        <p:nvSpPr>
          <p:cNvPr id="413" name="Google Shape;413;p30">
            <a:extLst>
              <a:ext uri="{FF2B5EF4-FFF2-40B4-BE49-F238E27FC236}">
                <ns2:creationId id="{14030F0B-9A41-A413-2246-7E8BD14C5D98}"/>
              </a:ext>
            </a:extLst>
          </p:cNvPr>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81" b="-383"/>
            </a:stretch>
          </a:blipFill>
          <a:ln>
            <a:noFill/>
          </a:ln>
        </p:spPr>
      </p:sp>
      <p:sp>
        <p:nvSpPr>
          <p:cNvPr id="2" name="Rectangle 1">
            <a:extLst>
              <a:ext uri="{FF2B5EF4-FFF2-40B4-BE49-F238E27FC236}">
                <ns2:creationId id="{F41B34A5-B315-1CBF-C994-F7C5675A13C9}"/>
              </a:ext>
            </a:extLst>
          </p:cNvPr>
          <p:cNvSpPr>
            <a:spLocks noChangeArrowheads="1"/>
          </p:cNvSpPr>
          <p:nvPr/>
        </p:nvSpPr>
        <p:spPr bwMode="auto">
          <a:xfrm>
            <a:off x="868891" y="2125546"/>
            <a:ext cx="16230599" cy="3471848"/>
          </a:xfrm>
          <a:prstGeom prst="rect">
            <a:avLst/>
          </a:prstGeom>
          <a:noFill/>
          <a:ln>
            <a:noFill/>
          </a:ln>
          <a:effectLst/>
          <a:extLst>
            <a:ext uri="{909E8E84-426E-40DD-AFC4-6F175D3DCCD1}">
              <ns4:hiddenFill>
                <a:solidFill>
                  <a:schemeClr val="accent1"/>
                </a:solidFill>
              </ns4:hiddenFill>
            </a:ext>
            <a:ext uri="{91240B29-F687-4F45-9708-019B960494DF}">
              <ns4:hiddenLine w="9525">
                <a:solidFill>
                  <a:schemeClr val="tx1"/>
                </a:solidFill>
                <a:miter lim="800000"/>
                <a:headEnd/>
                <a:tailEnd/>
              </ns4:hiddenLine>
            </a:ext>
            <a:ext uri="{AF507438-7753-43E0-B8FC-AC1667EBCBE1}">
              <ns4:hiddenEffects>
                <a:effectLst>
                  <a:outerShdw dist="35921" dir="2700000" algn="ctr" rotWithShape="0">
                    <a:schemeClr val="bg2"/>
                  </a:outerShdw>
                </a:effectLst>
              </ns4:hiddenEffects>
            </a:ext>
          </a:extLst>
        </p:spPr>
        <p:txBody>
          <a:bodyPr vert="horz" wrap="square" lIns="91440" tIns="45720" rIns="91440" bIns="45720" numCol="1" anchor="ctr" anchorCtr="0" compatLnSpc="1">
            <a:prstTxWarp prst="textNoShape">
              <a:avLst/>
            </a:prstTxWarp>
            <a:spAutoFit/>
          </a:bodyPr>
          <a:lstStyle/>
          <a:p>
            <a:r>
              <a:rPr lang="en-US" sz="3000" dirty="0">
                <a:latin typeface="Times New Roman" panose="02020603050405020304" pitchFamily="18" charset="0"/>
                <a:cs typeface="Times New Roman" panose="02020603050405020304" pitchFamily="18" charset="0"/>
              </a:rPr>
              <a:t>The PC Performance Monitor Bot automates the process of collecting and displaying live system performance data. By combining UiPath, PowerShell, JSON, and a browser dashboard, the project provides a simple monitoring solution similar to a lightweight Task Manager. It displays CPU, RAM, GPU, top application usage, and active GPU process details in real time. Debug logs and export options make it useful for learning and local monitoring.</a:t>
            </a:r>
            <a:endParaRPr/>
          </a:p>
        </p:txBody>
      </p:sp>
    </p:spTree>
    <p:extLst>
      <p:ext uri="{BB962C8B-B14F-4D97-AF65-F5344CB8AC3E}">
        <ns5:creationId val="2324297073"/>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Shape 424"/>
        <p:cNvGrpSpPr/>
        <p:nvPr/>
      </p:nvGrpSpPr>
      <p:grpSpPr>
        <a:xfrm>
          <a:off x="0" y="0"/>
          <a:ext cx="0" cy="0"/>
          <a:chOff x="0" y="0"/>
          <a:chExt cx="0" cy="0"/>
        </a:xfrm>
      </p:grpSpPr>
      <p:sp>
        <p:nvSpPr>
          <p:cNvPr id="425" name="Google Shape;425;p31"/>
          <p:cNvSpPr/>
          <p:nvPr/>
        </p:nvSpPr>
        <p:spPr>
          <a:xfrm>
            <a:off x="475011"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3">
              <a:alphaModFix/>
            </a:blip>
            <a:stretch>
              <a:fillRect/>
            </a:stretch>
          </a:blipFill>
          <a:ln>
            <a:noFill/>
          </a:ln>
        </p:spPr>
      </p:sp>
      <p:sp>
        <p:nvSpPr>
          <p:cNvPr id="426" name="Google Shape;426;p31"/>
          <p:cNvSpPr/>
          <p:nvPr/>
        </p:nvSpPr>
        <p:spPr>
          <a:xfrm>
            <a:off x="6383974"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4">
              <a:alphaModFix/>
            </a:blip>
            <a:stretch>
              <a:fillRect/>
            </a:stretch>
          </a:blipFill>
          <a:ln>
            <a:noFill/>
          </a:ln>
        </p:spPr>
      </p:sp>
      <p:sp>
        <p:nvSpPr>
          <p:cNvPr id="427" name="Google Shape;427;p31"/>
          <p:cNvSpPr/>
          <p:nvPr/>
        </p:nvSpPr>
        <p:spPr>
          <a:xfrm>
            <a:off x="12292938"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5">
              <a:alphaModFix/>
            </a:blip>
            <a:stretch>
              <a:fillRect/>
            </a:stretch>
          </a:blipFill>
          <a:ln>
            <a:noFill/>
          </a:ln>
        </p:spPr>
      </p:sp>
      <p:sp>
        <p:nvSpPr>
          <p:cNvPr id="428" name="Google Shape;428;p31"/>
          <p:cNvSpPr/>
          <p:nvPr/>
        </p:nvSpPr>
        <p:spPr>
          <a:xfrm>
            <a:off x="484536" y="1000321"/>
            <a:ext cx="14330173" cy="617886"/>
          </a:xfrm>
          <a:custGeom>
            <a:avLst/>
            <a:gdLst/>
            <a:ahLst/>
            <a:cxnLst/>
            <a:rect l="l" t="t" r="r" b="b"/>
            <a:pathLst>
              <a:path w="19106896" h="823849" extrusionOk="0">
                <a:moveTo>
                  <a:pt x="0" y="0"/>
                </a:moveTo>
                <a:lnTo>
                  <a:pt x="19106896" y="0"/>
                </a:lnTo>
                <a:lnTo>
                  <a:pt x="19106896" y="823849"/>
                </a:lnTo>
                <a:lnTo>
                  <a:pt x="0" y="823849"/>
                </a:lnTo>
                <a:close/>
              </a:path>
            </a:pathLst>
          </a:custGeom>
          <a:solidFill>
            <a:srgbClr val="0070C0"/>
          </a:solidFill>
          <a:ln>
            <a:noFill/>
          </a:ln>
        </p:spPr>
      </p:sp>
      <p:sp>
        <p:nvSpPr>
          <p:cNvPr id="429" name="Google Shape;429;p31"/>
          <p:cNvSpPr/>
          <p:nvPr/>
        </p:nvSpPr>
        <p:spPr>
          <a:xfrm>
            <a:off x="475011" y="990796"/>
            <a:ext cx="14349222" cy="636936"/>
          </a:xfrm>
          <a:custGeom>
            <a:avLst/>
            <a:gdLst/>
            <a:ahLst/>
            <a:cxnLst/>
            <a:rect l="l" t="t" r="r" b="b"/>
            <a:pathLst>
              <a:path w="19132296" h="849249" extrusionOk="0">
                <a:moveTo>
                  <a:pt x="12700" y="0"/>
                </a:moveTo>
                <a:lnTo>
                  <a:pt x="19119596" y="0"/>
                </a:lnTo>
                <a:cubicBezTo>
                  <a:pt x="19126581" y="0"/>
                  <a:pt x="19132296" y="5715"/>
                  <a:pt x="19132296" y="12700"/>
                </a:cubicBezTo>
                <a:lnTo>
                  <a:pt x="19132296" y="836549"/>
                </a:lnTo>
                <a:cubicBezTo>
                  <a:pt x="19132296" y="843534"/>
                  <a:pt x="19126581" y="849249"/>
                  <a:pt x="19119596"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596" y="823849"/>
                </a:lnTo>
                <a:lnTo>
                  <a:pt x="19119596" y="836549"/>
                </a:lnTo>
                <a:lnTo>
                  <a:pt x="19106896" y="836549"/>
                </a:lnTo>
                <a:lnTo>
                  <a:pt x="19106896" y="12700"/>
                </a:lnTo>
                <a:lnTo>
                  <a:pt x="19119596" y="12700"/>
                </a:lnTo>
                <a:lnTo>
                  <a:pt x="19119596"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 name="Google Shape;430;p31"/>
          <p:cNvGrpSpPr/>
          <p:nvPr/>
        </p:nvGrpSpPr>
        <p:grpSpPr>
          <a:xfrm>
            <a:off x="475011" y="947933"/>
            <a:ext cx="20310622" cy="754371"/>
            <a:chOff x="0" y="0"/>
            <a:chExt cx="27080829" cy="1005827"/>
          </a:xfrm>
        </p:grpSpPr>
        <p:sp>
          <p:nvSpPr>
            <p:cNvPr id="431" name="Google Shape;431;p31"/>
            <p:cNvSpPr/>
            <p:nvPr/>
          </p:nvSpPr>
          <p:spPr>
            <a:xfrm>
              <a:off x="0" y="0"/>
              <a:ext cx="19132237" cy="906433"/>
            </a:xfrm>
            <a:custGeom>
              <a:avLst/>
              <a:gdLst/>
              <a:ahLst/>
              <a:cxnLst/>
              <a:rect l="l" t="t" r="r" b="b"/>
              <a:pathLst>
                <a:path w="19132237" h="906433" extrusionOk="0">
                  <a:moveTo>
                    <a:pt x="0" y="0"/>
                  </a:moveTo>
                  <a:lnTo>
                    <a:pt x="19132237" y="0"/>
                  </a:lnTo>
                  <a:lnTo>
                    <a:pt x="19132237" y="906433"/>
                  </a:lnTo>
                  <a:lnTo>
                    <a:pt x="0" y="906433"/>
                  </a:lnTo>
                  <a:close/>
                </a:path>
              </a:pathLst>
            </a:custGeom>
            <a:solidFill>
              <a:srgbClr val="000000">
                <a:alpha val="0"/>
              </a:srgbClr>
            </a:solidFill>
            <a:ln>
              <a:noFill/>
            </a:ln>
          </p:spPr>
        </p:sp>
        <p:sp>
          <p:nvSpPr>
            <p:cNvPr id="432" name="Google Shape;432;p31"/>
            <p:cNvSpPr txBox="1"/>
            <p:nvPr/>
          </p:nvSpPr>
          <p:spPr>
            <a:xfrm>
              <a:off x="7948592" y="42244"/>
              <a:ext cx="19132237" cy="963583"/>
            </a:xfrm>
            <a:prstGeom prst="rect">
              <a:avLst/>
            </a:prstGeom>
            <a:noFill/>
            <a:ln>
              <a:noFill/>
            </a:ln>
          </p:spPr>
          <p:txBody>
            <a:bodyPr spcFirstLastPara="1" wrap="square" lIns="0" tIns="0" rIns="0" bIns="0" anchor="ctr" anchorCtr="0">
              <a:noAutofit/>
            </a:bodyPr>
            <a:lstStyle/>
            <a:p>
              <a:r>
                <a:rPr lang="en-US" sz="2700" b="1" i="0" u="none" strike="noStrike" cap="none" dirty="0">
                  <a:solidFill>
                    <a:srgbClr val="FFFFFF"/>
                  </a:solidFill>
                  <a:latin typeface="Calibri"/>
                  <a:ea typeface="Calibri"/>
                  <a:cs typeface="Calibri"/>
                  <a:sym typeface="Calibri"/>
                </a:rPr>
                <a:t>Thank You !</a:t>
              </a:r>
              <a:endParaRPr/>
            </a:p>
          </p:txBody>
        </p:sp>
      </p:grpSp>
      <p:sp>
        <p:nvSpPr>
          <p:cNvPr id="433" name="Google Shape;433;p31"/>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81" b="-383"/>
            </a:stretch>
          </a:blipFill>
          <a:ln>
            <a:noFill/>
          </a:ln>
        </p:spPr>
      </p:sp>
      <p:sp>
        <p:nvSpPr>
          <p:cNvPr id="434" name="Google Shape;434;p31" descr="Education Is The Most Powerful Weapon - Global School Networks"/>
          <p:cNvSpPr/>
          <p:nvPr/>
        </p:nvSpPr>
        <p:spPr>
          <a:xfrm>
            <a:off x="5480716" y="2177948"/>
            <a:ext cx="7326535" cy="3636264"/>
          </a:xfrm>
          <a:custGeom>
            <a:avLst/>
            <a:gdLst/>
            <a:ahLst/>
            <a:cxnLst/>
            <a:rect l="l" t="t" r="r" b="b"/>
            <a:pathLst>
              <a:path w="9768713" h="4848352" extrusionOk="0">
                <a:moveTo>
                  <a:pt x="0" y="0"/>
                </a:moveTo>
                <a:lnTo>
                  <a:pt x="9768713" y="0"/>
                </a:lnTo>
                <a:lnTo>
                  <a:pt x="9768713" y="4848352"/>
                </a:lnTo>
                <a:lnTo>
                  <a:pt x="0" y="4848352"/>
                </a:lnTo>
                <a:lnTo>
                  <a:pt x="0" y="0"/>
                </a:lnTo>
                <a:close/>
              </a:path>
            </a:pathLst>
          </a:custGeom>
          <a:blipFill rotWithShape="1">
            <a:blip r:embed="rId7">
              <a:alphaModFix/>
            </a:blip>
            <a:stretch>
              <a:fillRect/>
            </a:stretch>
          </a:blipFill>
          <a:ln>
            <a:noFill/>
          </a:ln>
        </p:spPr>
      </p:sp>
      <p:grpSp>
        <p:nvGrpSpPr>
          <p:cNvPr id="435" name="Google Shape;435;p31"/>
          <p:cNvGrpSpPr/>
          <p:nvPr/>
        </p:nvGrpSpPr>
        <p:grpSpPr>
          <a:xfrm>
            <a:off x="855456" y="5738794"/>
            <a:ext cx="16952360" cy="2956443"/>
            <a:chOff x="0" y="-304800"/>
            <a:chExt cx="22603147" cy="3941924"/>
          </a:xfrm>
        </p:grpSpPr>
        <p:sp>
          <p:nvSpPr>
            <p:cNvPr id="436" name="Google Shape;436;p31"/>
            <p:cNvSpPr/>
            <p:nvPr/>
          </p:nvSpPr>
          <p:spPr>
            <a:xfrm>
              <a:off x="0" y="0"/>
              <a:ext cx="22603147" cy="3637124"/>
            </a:xfrm>
            <a:custGeom>
              <a:avLst/>
              <a:gdLst/>
              <a:ahLst/>
              <a:cxnLst/>
              <a:rect l="l" t="t" r="r" b="b"/>
              <a:pathLst>
                <a:path w="22603147" h="3637124" extrusionOk="0">
                  <a:moveTo>
                    <a:pt x="0" y="0"/>
                  </a:moveTo>
                  <a:lnTo>
                    <a:pt x="22603147" y="0"/>
                  </a:lnTo>
                  <a:lnTo>
                    <a:pt x="22603147" y="3637124"/>
                  </a:lnTo>
                  <a:lnTo>
                    <a:pt x="0" y="3637124"/>
                  </a:lnTo>
                  <a:close/>
                </a:path>
              </a:pathLst>
            </a:custGeom>
            <a:solidFill>
              <a:srgbClr val="000000">
                <a:alpha val="0"/>
              </a:srgbClr>
            </a:solidFill>
            <a:ln>
              <a:noFill/>
            </a:ln>
          </p:spPr>
        </p:sp>
        <p:sp>
          <p:nvSpPr>
            <p:cNvPr id="437" name="Google Shape;437;p31"/>
            <p:cNvSpPr txBox="1"/>
            <p:nvPr/>
          </p:nvSpPr>
          <p:spPr>
            <a:xfrm>
              <a:off x="0" y="-304800"/>
              <a:ext cx="22603147" cy="3941924"/>
            </a:xfrm>
            <a:prstGeom prst="rect">
              <a:avLst/>
            </a:prstGeom>
            <a:noFill/>
            <a:ln>
              <a:noFill/>
            </a:ln>
          </p:spPr>
          <p:txBody>
            <a:bodyPr spcFirstLastPara="1" wrap="square" lIns="0" tIns="0" rIns="0" bIns="0" anchor="t" anchorCtr="0">
              <a:noAutofit/>
            </a:bodyPr>
            <a:lstStyle/>
            <a:p>
              <a:r>
                <a:rPr lang="en-US" sz="2700" b="1" i="0" u="none" strike="noStrike" cap="none">
                  <a:solidFill>
                    <a:srgbClr val="055FB4"/>
                  </a:solidFill>
                  <a:latin typeface="Century Gothic"/>
                  <a:ea typeface="Century Gothic"/>
                  <a:cs typeface="Century Gothic"/>
                  <a:sym typeface="Century Gothic"/>
                </a:rPr>
                <a:t>PC Performance Monitor Bot connects RPA with a live dashboard.</a:t>
              </a:r>
              <a:endParaRPr/>
            </a:p>
            <a:p>
              <a:r>
                <a:rPr lang="en-US" sz="2700" b="1" i="0" u="none" strike="noStrike" cap="none">
                  <a:solidFill>
                    <a:srgbClr val="055FB4"/>
                  </a:solidFill>
                  <a:latin typeface="Century Gothic"/>
                  <a:ea typeface="Century Gothic"/>
                  <a:cs typeface="Century Gothic"/>
                  <a:sym typeface="Century Gothic"/>
                </a:rPr>
                <a:t>Thank you for your attention.</a:t>
              </a:r>
              <a:endParaRPr/>
            </a:p>
          </p:txBody>
        </p:sp>
      </p:grpSp>
      <p:sp>
        <p:nvSpPr>
          <p:cNvPr id="438" name="Google Shape;438;p31"/>
          <p:cNvSpPr/>
          <p:nvPr/>
        </p:nvSpPr>
        <p:spPr>
          <a:xfrm>
            <a:off x="871786" y="9264898"/>
            <a:ext cx="2148364" cy="456438"/>
          </a:xfrm>
          <a:custGeom>
            <a:avLst/>
            <a:gdLst/>
            <a:ahLst/>
            <a:cxnLst/>
            <a:rect l="l" t="t" r="r" b="b"/>
            <a:pathLst>
              <a:path w="2864485" h="608584" extrusionOk="0">
                <a:moveTo>
                  <a:pt x="0" y="0"/>
                </a:moveTo>
                <a:lnTo>
                  <a:pt x="2864485" y="0"/>
                </a:lnTo>
                <a:lnTo>
                  <a:pt x="2864485" y="608584"/>
                </a:lnTo>
                <a:lnTo>
                  <a:pt x="0" y="608584"/>
                </a:lnTo>
                <a:lnTo>
                  <a:pt x="0" y="0"/>
                </a:lnTo>
                <a:close/>
              </a:path>
            </a:pathLst>
          </a:custGeom>
          <a:blipFill rotWithShape="1">
            <a:blip r:embed="rId8">
              <a:alphaModFix/>
            </a:blip>
            <a:stretch>
              <a:fillRect t="-302" b="-311"/>
            </a:stretch>
          </a:blipFill>
          <a:ln>
            <a:noFill/>
          </a:ln>
        </p:spPr>
      </p:sp>
      <p:grpSp>
        <p:nvGrpSpPr>
          <p:cNvPr id="439" name="Google Shape;439;p31"/>
          <p:cNvGrpSpPr/>
          <p:nvPr/>
        </p:nvGrpSpPr>
        <p:grpSpPr>
          <a:xfrm>
            <a:off x="2888274" y="9210872"/>
            <a:ext cx="1811073" cy="507831"/>
            <a:chOff x="0" y="0"/>
            <a:chExt cx="2414764" cy="677108"/>
          </a:xfrm>
        </p:grpSpPr>
        <p:sp>
          <p:nvSpPr>
            <p:cNvPr id="440" name="Google Shape;440;p31"/>
            <p:cNvSpPr/>
            <p:nvPr/>
          </p:nvSpPr>
          <p:spPr>
            <a:xfrm>
              <a:off x="0" y="0"/>
              <a:ext cx="2414764" cy="677108"/>
            </a:xfrm>
            <a:custGeom>
              <a:avLst/>
              <a:gdLst/>
              <a:ahLst/>
              <a:cxnLst/>
              <a:rect l="l" t="t" r="r" b="b"/>
              <a:pathLst>
                <a:path w="2414764" h="677108" extrusionOk="0">
                  <a:moveTo>
                    <a:pt x="0" y="0"/>
                  </a:moveTo>
                  <a:lnTo>
                    <a:pt x="2414764" y="0"/>
                  </a:lnTo>
                  <a:lnTo>
                    <a:pt x="2414764" y="677108"/>
                  </a:lnTo>
                  <a:lnTo>
                    <a:pt x="0" y="677108"/>
                  </a:lnTo>
                  <a:close/>
                </a:path>
              </a:pathLst>
            </a:custGeom>
            <a:solidFill>
              <a:srgbClr val="000000">
                <a:alpha val="0"/>
              </a:srgbClr>
            </a:solidFill>
            <a:ln>
              <a:noFill/>
            </a:ln>
          </p:spPr>
        </p:sp>
        <p:sp>
          <p:nvSpPr>
            <p:cNvPr id="441" name="Google Shape;441;p31"/>
            <p:cNvSpPr txBox="1"/>
            <p:nvPr/>
          </p:nvSpPr>
          <p:spPr>
            <a:xfrm>
              <a:off x="0" y="0"/>
              <a:ext cx="2414764" cy="677108"/>
            </a:xfrm>
            <a:prstGeom prst="rect">
              <a:avLst/>
            </a:prstGeom>
            <a:noFill/>
            <a:ln>
              <a:noFill/>
            </a:ln>
          </p:spPr>
          <p:txBody>
            <a:bodyPr spcFirstLastPara="1" wrap="square" lIns="0" tIns="0" rIns="0" bIns="0" anchor="t" anchorCtr="0">
              <a:noAutofit/>
            </a:bodyPr>
            <a:lstStyle/>
            <a:p>
              <a:r>
                <a:rPr lang="en-US" sz="2400" b="1" i="0" u="none" strike="noStrike" cap="none">
                  <a:solidFill>
                    <a:srgbClr val="055FB4"/>
                  </a:solidFill>
                  <a:latin typeface="Century Gothic"/>
                  <a:ea typeface="Century Gothic"/>
                  <a:cs typeface="Century Gothic"/>
                  <a:sym typeface="Century Gothic"/>
                </a:rPr>
                <a:t>/ksrct1994</a:t>
              </a:r>
              <a:endParaRPr/>
            </a:p>
          </p:txBody>
        </p:sp>
      </p:grpSp>
      <p:grpSp>
        <p:nvGrpSpPr>
          <p:cNvPr id="442" name="Google Shape;442;p31"/>
          <p:cNvGrpSpPr/>
          <p:nvPr/>
        </p:nvGrpSpPr>
        <p:grpSpPr>
          <a:xfrm>
            <a:off x="14981833" y="9210872"/>
            <a:ext cx="2633414" cy="507831"/>
            <a:chOff x="0" y="0"/>
            <a:chExt cx="3511219" cy="677108"/>
          </a:xfrm>
        </p:grpSpPr>
        <p:sp>
          <p:nvSpPr>
            <p:cNvPr id="443" name="Google Shape;443;p31"/>
            <p:cNvSpPr/>
            <p:nvPr/>
          </p:nvSpPr>
          <p:spPr>
            <a:xfrm>
              <a:off x="0" y="0"/>
              <a:ext cx="3511219" cy="677108"/>
            </a:xfrm>
            <a:custGeom>
              <a:avLst/>
              <a:gdLst/>
              <a:ahLst/>
              <a:cxnLst/>
              <a:rect l="l" t="t" r="r" b="b"/>
              <a:pathLst>
                <a:path w="3511219" h="677108" extrusionOk="0">
                  <a:moveTo>
                    <a:pt x="0" y="0"/>
                  </a:moveTo>
                  <a:lnTo>
                    <a:pt x="3511219" y="0"/>
                  </a:lnTo>
                  <a:lnTo>
                    <a:pt x="3511219" y="677108"/>
                  </a:lnTo>
                  <a:lnTo>
                    <a:pt x="0" y="677108"/>
                  </a:lnTo>
                  <a:close/>
                </a:path>
              </a:pathLst>
            </a:custGeom>
            <a:solidFill>
              <a:srgbClr val="000000">
                <a:alpha val="0"/>
              </a:srgbClr>
            </a:solidFill>
            <a:ln>
              <a:noFill/>
            </a:ln>
          </p:spPr>
        </p:sp>
        <p:sp>
          <p:nvSpPr>
            <p:cNvPr id="444" name="Google Shape;444;p31"/>
            <p:cNvSpPr txBox="1"/>
            <p:nvPr/>
          </p:nvSpPr>
          <p:spPr>
            <a:xfrm>
              <a:off x="0" y="0"/>
              <a:ext cx="3511219" cy="677108"/>
            </a:xfrm>
            <a:prstGeom prst="rect">
              <a:avLst/>
            </a:prstGeom>
            <a:noFill/>
            <a:ln>
              <a:noFill/>
            </a:ln>
          </p:spPr>
          <p:txBody>
            <a:bodyPr spcFirstLastPara="1" wrap="square" lIns="0" tIns="0" rIns="0" bIns="0" anchor="t" anchorCtr="0">
              <a:noAutofit/>
            </a:bodyPr>
            <a:lstStyle/>
            <a:p>
              <a:r>
                <a:rPr lang="en-US" sz="2400" b="1" i="0" u="none" strike="noStrike" cap="none">
                  <a:solidFill>
                    <a:srgbClr val="055FB4"/>
                  </a:solidFill>
                  <a:latin typeface="Century Gothic"/>
                  <a:ea typeface="Century Gothic"/>
                  <a:cs typeface="Century Gothic"/>
                  <a:sym typeface="Century Gothic"/>
                </a:rPr>
                <a:t>www.ksrct.ac.in</a:t>
              </a:r>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567</TotalTime>
  <Words>805</Words>
  <Application>Microsoft Office PowerPoint</Application>
  <PresentationFormat>Custom</PresentationFormat>
  <Paragraphs>179</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 Black</vt:lpstr>
      <vt:lpstr>Century Gothic</vt:lpstr>
      <vt:lpstr>Times New Roman</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Vasu K</dc:creator>
  <cp:lastModifiedBy>PRAVEEN S</cp:lastModifiedBy>
  <cp:revision>27</cp:revision>
  <dcterms:modified xsi:type="dcterms:W3CDTF">2025-12-11T18:03:23Z</dcterms:modified>
</cp:coreProperties>
</file>